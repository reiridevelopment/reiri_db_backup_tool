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7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71" r:id="rId13"/>
    <p:sldId id="272" r:id="rId14"/>
    <p:sldId id="264" r:id="rId15"/>
    <p:sldId id="268" r:id="rId16"/>
    <p:sldId id="269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342C0-7F53-47AD-F0BC-3BEB73139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A63377-7BCD-2D63-67B5-FDD181A6B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3F06F-0D8B-EC4C-6E88-5D483510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3D66F-D626-27B7-0FA2-94C0C280B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1A674-6C75-1CC3-4148-206758E1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68125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8975-7A56-45D8-CAC9-19C64D7AD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5539EE-EB32-1164-DE65-4032BC52A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76C77-E0E0-FECA-2F28-3878D91A5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10117-E447-E3C9-39FB-3AC1BF4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EF9F0-CFB8-E0F0-2138-21985EA1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28679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E4C81-1C74-5F3C-6C97-D3E9DBDF8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9E7F-9CBE-217C-F123-6A9D1BB8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56FD0-CB18-E73A-FEB4-91A7E1FE9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056D2-04E1-3F95-F05E-39D54376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B0E06-0AA1-FB33-937F-114D549A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9367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91F8-7984-9359-C6F3-850392FBB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31781-C4EC-35E3-98B5-FB54EE515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0BC43-9C82-C4F6-1276-5BFAB9844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44C57-542F-D624-D6BE-1C6451CD6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0DE00-1B9D-015D-FD40-E4349B0A7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83A31-C736-FAFA-3D50-66139AA35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259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EAA4F-FF4B-8831-C2DA-29F4BB07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AFE83-6AE8-4D22-56B5-9A064B41E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1DDDB-DCA0-EF4E-559F-4DD174793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767C5D-B299-9FC5-5CF7-2C61CABB2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7C6631-7392-07D1-A401-8F18A0CAFF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7C0E47-0919-BC8B-1E78-332AB804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F1031-2E42-4AF7-E54E-A0FCCB6C9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06A3B-B345-D653-F6AE-A05868CE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5259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1CF03-E679-A35B-CDFF-01AE21F6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3C9BE-F85E-32CE-10B0-561992439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DD08B-0A59-AF2C-C193-3F43BAA5B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E40555-8653-6562-BC33-39564D1E5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9463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0DE707-789C-FFAF-FFC1-19438FD72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6F93B2-CB01-5521-A372-DC736C9E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5A06D6-D922-25F8-8588-923C34900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15876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060C8-263E-071A-1E34-67EE95F61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52C15-7A2D-1DA4-2C95-D29C97980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9B706E-4AC8-9FE4-05F6-3F25F7787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8250E-CE15-934D-24EE-4092B5715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CFECD-0EB0-C95F-5A50-3D33CFA9B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57CF0-D2D2-4E4E-DC5B-8F23C0FC0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9814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C4065-2217-CA92-195C-8C4195958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EF6EFF-1BA8-2A92-D7BE-EE6CD19924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F63F0-96C9-4A19-DF06-AFA0EBCEB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26B96D-E1B5-1465-4363-05233B8CE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01B9B1-5060-39F8-DF20-3A218038B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AA268-362D-BC94-0FC9-30B4C54C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7975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9AD62-08BF-3673-666C-70ADEF7F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E8CCA-2988-6A6A-C012-3622D5C20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54CD4-445C-A71B-D6F8-0BA7BAE3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1A325-FA1E-40BE-BF5B-728B56ECB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136E0-4E59-7E6E-F289-98B23AFEC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69878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702563-95C9-018A-2D01-B5E2E03F0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001F2-ECD0-C68F-B5BC-AEE7F4C6F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377E6-DDE4-22BC-32C1-8517FFA7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A134-9E4D-41FA-B225-1F62686D9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3F95E-4FA3-6070-EAFA-E88993236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3537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7EF4B5-AF7C-08EC-6C9F-3B98B5CC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6D2ADB-D124-F5A9-D969-15F4A2027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350F3-1763-8E4A-972C-FA11C77C3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4E653-FF1D-4150-ABE0-B17334C3C55E}" type="datetimeFigureOut">
              <a:rPr lang="en-SG" smtClean="0"/>
              <a:t>1/8/2026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B73054-5301-9B5F-4B76-24AE09435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21A07-10BD-C453-4516-4B93473A7E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8D9EA-F7C5-47E8-A910-1AC01DB0C4C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28505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ilsrv.sharepoint.com/:f:/r/sites/Development_DSP/Shared%20Documents/General/DevelopmentGr/Reiri%20DB%20Backup%20Tool?d=weca9e689b69940afa82402e263eff6c9&amp;csf=1&amp;web=1&amp;e=XNnpk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ilsrv.sharepoint.com/:f:/r/sites/Development_DSP/Shared%20Documents/General/DevelopmentGr/DB%20Compare%20Tool?d=wee1e01ae3785497394fd11d7c154b601&amp;csf=1&amp;web=1&amp;e=XocBV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dilsrv.sharepoint.com/:f:/r/sites/Development_DSP/Shared%20Documents/General/DevelopmentGr/DB%20Compare%20Tool?d=wee1e01ae3785497394fd11d7c154b601&amp;csf=1&amp;web=1&amp;e=XocBVT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ADC71-7526-CA0C-4D60-212A4BF651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Reiri DB Backup Tool</a:t>
            </a:r>
            <a:endParaRPr lang="en-S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BCD26-7D98-282F-1811-90A0E3DA2C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Handover Document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0584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ECB4D-5540-D29F-948C-15E1DC352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29987-4C15-6024-4AFC-BFD76E6BE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1400"/>
            </a:pPr>
            <a:r>
              <a:rPr lang="en-US" sz="1400" dirty="0"/>
              <a:t>The Reiri DB Backup Tool is a Windows desktop application that continuously backs up operational data from Reiri HVAC controllers to a local PC database.</a:t>
            </a:r>
          </a:p>
          <a:p>
            <a:pPr>
              <a:defRPr sz="1400"/>
            </a:pPr>
            <a:endParaRPr lang="en-US" sz="1400" dirty="0"/>
          </a:p>
          <a:p>
            <a:pPr>
              <a:defRPr sz="1400"/>
            </a:pPr>
            <a:r>
              <a:rPr lang="en-US" sz="1400" dirty="0"/>
              <a:t>Purpose: </a:t>
            </a:r>
          </a:p>
          <a:p>
            <a:pPr lvl="1">
              <a:defRPr sz="1400"/>
            </a:pPr>
            <a:r>
              <a:rPr lang="en-US" sz="1400" dirty="0"/>
              <a:t>Protect critical time-series data (history, meter, optime, trend, PPD) against data loss on the controller by maintaining an up-to-date local copy.</a:t>
            </a:r>
            <a:br>
              <a:rPr lang="en-US" sz="1400" dirty="0"/>
            </a:br>
            <a:endParaRPr lang="en-US" sz="1400" dirty="0"/>
          </a:p>
          <a:p>
            <a:pPr>
              <a:defRPr sz="1400"/>
            </a:pPr>
            <a:r>
              <a:rPr lang="en-US" sz="1400" dirty="0"/>
              <a:t>How it works(high level):</a:t>
            </a:r>
          </a:p>
          <a:p>
            <a:pPr lvl="1">
              <a:defRPr sz="1400"/>
            </a:pPr>
            <a:r>
              <a:rPr lang="en-US" sz="1400" dirty="0"/>
              <a:t>The app runs 24/7 on a Windows PC in the background.</a:t>
            </a:r>
          </a:p>
          <a:p>
            <a:pPr lvl="1">
              <a:defRPr sz="1400"/>
            </a:pPr>
            <a:r>
              <a:rPr lang="en-US" sz="1400" dirty="0"/>
              <a:t>It connects to Reiri controller over the network (LAN or cloud).</a:t>
            </a:r>
          </a:p>
          <a:p>
            <a:pPr lvl="1">
              <a:defRPr sz="1400"/>
            </a:pPr>
            <a:r>
              <a:rPr lang="en-US" sz="1400" dirty="0"/>
              <a:t>It copies new database records from the controller to local SQLite files on the PC.</a:t>
            </a:r>
          </a:p>
          <a:p>
            <a:pPr lvl="1">
              <a:defRPr sz="1400"/>
            </a:pPr>
            <a:r>
              <a:rPr lang="en-US" sz="1400" dirty="0"/>
              <a:t>The backed-up files are directly restorable via the Reiri Setup Tool.</a:t>
            </a:r>
          </a:p>
          <a:p>
            <a:pPr lvl="1">
              <a:defRPr sz="1400"/>
            </a:pPr>
            <a:endParaRPr lang="en-US" sz="1400" dirty="0"/>
          </a:p>
          <a:p>
            <a:r>
              <a:rPr lang="en-US" sz="1400" dirty="0"/>
              <a:t>Target platform: Windows 10/11, built with flutter</a:t>
            </a:r>
          </a:p>
        </p:txBody>
      </p:sp>
    </p:spTree>
    <p:extLst>
      <p:ext uri="{BB962C8B-B14F-4D97-AF65-F5344CB8AC3E}">
        <p14:creationId xmlns:p14="http://schemas.microsoft.com/office/powerpoint/2010/main" val="884425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977EF-AAD9-4449-AE1A-E18FA3F88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32CD8-13CB-85FB-1322-EE7116833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5497-0C0F-72C5-60CC-336E11818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16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The system has three main components:</a:t>
            </a:r>
            <a:br>
              <a:rPr lang="en-US" sz="1400" dirty="0"/>
            </a:br>
            <a:endParaRPr lang="en-US" sz="1400" dirty="0"/>
          </a:p>
          <a:p>
            <a:pPr>
              <a:defRPr sz="1400"/>
            </a:pPr>
            <a:r>
              <a:rPr lang="en-US" b="1" dirty="0"/>
              <a:t>Reiri Controller </a:t>
            </a:r>
            <a:r>
              <a:rPr lang="en-US" dirty="0"/>
              <a:t>— the source of data</a:t>
            </a:r>
          </a:p>
          <a:p>
            <a:pPr lvl="1">
              <a:defRPr sz="1400"/>
            </a:pPr>
            <a:r>
              <a:rPr lang="en-US" dirty="0"/>
              <a:t>Stores operational data in 5 SQLite databases: history, meter, optime, trend, ppd.</a:t>
            </a:r>
            <a:br>
              <a:rPr lang="en-US" dirty="0"/>
            </a:br>
            <a:endParaRPr lang="en-US" dirty="0"/>
          </a:p>
          <a:p>
            <a:pPr>
              <a:defRPr sz="1400"/>
            </a:pPr>
            <a:r>
              <a:rPr lang="en-US" b="1" dirty="0"/>
              <a:t>Reiri DB Backup Tool </a:t>
            </a:r>
            <a:r>
              <a:rPr lang="en-US" dirty="0"/>
              <a:t>— this application</a:t>
            </a:r>
          </a:p>
          <a:p>
            <a:pPr lvl="1">
              <a:defRPr sz="1400"/>
            </a:pPr>
            <a:r>
              <a:rPr lang="en-US" dirty="0"/>
              <a:t>Runs continuously on a Windows PC.</a:t>
            </a:r>
          </a:p>
          <a:p>
            <a:pPr lvl="1">
              <a:defRPr sz="1400"/>
            </a:pPr>
            <a:r>
              <a:rPr lang="en-US" dirty="0"/>
              <a:t>Connects to the controller via WebSocket (LAN or cloud).</a:t>
            </a:r>
          </a:p>
          <a:p>
            <a:pPr lvl="1">
              <a:defRPr sz="1400"/>
            </a:pPr>
            <a:r>
              <a:rPr lang="en-US" dirty="0"/>
              <a:t>Pulls and/or receives data, writes it to a local copy of the databases.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b="1" dirty="0"/>
              <a:t>Local PC Storage </a:t>
            </a:r>
            <a:r>
              <a:rPr lang="en-US" dirty="0"/>
              <a:t>— the backup destination</a:t>
            </a:r>
          </a:p>
          <a:p>
            <a:pPr lvl="1">
              <a:defRPr sz="1400"/>
            </a:pPr>
            <a:r>
              <a:rPr lang="en-US" dirty="0"/>
              <a:t>Stores local copies of all database files in a user-configured folder.</a:t>
            </a:r>
          </a:p>
          <a:p>
            <a:pPr lvl="1">
              <a:defRPr sz="1400"/>
            </a:pPr>
            <a:r>
              <a:rPr lang="en-US" dirty="0"/>
              <a:t>Maintains metadata (last backup timestamps, state) in a JSON file.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7E816F0-DB6C-1A0F-FBFE-F365BF9AF722}"/>
              </a:ext>
            </a:extLst>
          </p:cNvPr>
          <p:cNvSpPr/>
          <p:nvPr/>
        </p:nvSpPr>
        <p:spPr>
          <a:xfrm>
            <a:off x="9540607" y="1825625"/>
            <a:ext cx="1487277" cy="7302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79A2F-C542-0FD8-6DBC-EF84EF75338C}"/>
              </a:ext>
            </a:extLst>
          </p:cNvPr>
          <p:cNvSpPr txBox="1"/>
          <p:nvPr/>
        </p:nvSpPr>
        <p:spPr>
          <a:xfrm>
            <a:off x="9697309" y="2006103"/>
            <a:ext cx="11914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Controller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47B5A05-88DC-24C4-EFCE-2CBED8CB8CD7}"/>
              </a:ext>
            </a:extLst>
          </p:cNvPr>
          <p:cNvSpPr/>
          <p:nvPr/>
        </p:nvSpPr>
        <p:spPr>
          <a:xfrm>
            <a:off x="9184803" y="3683897"/>
            <a:ext cx="2382824" cy="7302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540564-96FE-DF45-7C92-92FBD27671B3}"/>
              </a:ext>
            </a:extLst>
          </p:cNvPr>
          <p:cNvSpPr txBox="1"/>
          <p:nvPr/>
        </p:nvSpPr>
        <p:spPr>
          <a:xfrm>
            <a:off x="9341505" y="3950426"/>
            <a:ext cx="2226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Reiri DB Backup Tool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1D0C684-7CBF-82DC-D2EA-0F0D2EE04D7C}"/>
              </a:ext>
            </a:extLst>
          </p:cNvPr>
          <p:cNvSpPr/>
          <p:nvPr/>
        </p:nvSpPr>
        <p:spPr>
          <a:xfrm>
            <a:off x="9439516" y="5505619"/>
            <a:ext cx="2030100" cy="73028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AD6213-7D16-F3AC-09D6-1D2EFF007AAB}"/>
              </a:ext>
            </a:extLst>
          </p:cNvPr>
          <p:cNvSpPr txBox="1"/>
          <p:nvPr/>
        </p:nvSpPr>
        <p:spPr>
          <a:xfrm>
            <a:off x="9596218" y="5686097"/>
            <a:ext cx="1873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Local PC Storage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ED33FD-1154-23E4-BE16-B8231CC9725F}"/>
              </a:ext>
            </a:extLst>
          </p:cNvPr>
          <p:cNvCxnSpPr>
            <a:cxnSpLocks/>
          </p:cNvCxnSpPr>
          <p:nvPr/>
        </p:nvCxnSpPr>
        <p:spPr>
          <a:xfrm flipV="1">
            <a:off x="9816029" y="2555913"/>
            <a:ext cx="0" cy="11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6DB07C8-F7E2-1889-24E9-3957CB2C4365}"/>
              </a:ext>
            </a:extLst>
          </p:cNvPr>
          <p:cNvCxnSpPr>
            <a:cxnSpLocks/>
          </p:cNvCxnSpPr>
          <p:nvPr/>
        </p:nvCxnSpPr>
        <p:spPr>
          <a:xfrm>
            <a:off x="10691022" y="2555913"/>
            <a:ext cx="0" cy="11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33786E7-4E1B-16F0-571F-DEEA1FB02720}"/>
              </a:ext>
            </a:extLst>
          </p:cNvPr>
          <p:cNvSpPr txBox="1"/>
          <p:nvPr/>
        </p:nvSpPr>
        <p:spPr>
          <a:xfrm>
            <a:off x="10691022" y="3020213"/>
            <a:ext cx="966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Send data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3853B8-2DDE-6E83-84F6-A8A4AE56063E}"/>
              </a:ext>
            </a:extLst>
          </p:cNvPr>
          <p:cNvSpPr txBox="1"/>
          <p:nvPr/>
        </p:nvSpPr>
        <p:spPr>
          <a:xfrm>
            <a:off x="8568075" y="3020214"/>
            <a:ext cx="12136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Request data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4F2E33D-E9C2-03DB-04D1-B83FD80C6994}"/>
              </a:ext>
            </a:extLst>
          </p:cNvPr>
          <p:cNvCxnSpPr>
            <a:cxnSpLocks/>
          </p:cNvCxnSpPr>
          <p:nvPr/>
        </p:nvCxnSpPr>
        <p:spPr>
          <a:xfrm>
            <a:off x="10096821" y="4422561"/>
            <a:ext cx="0" cy="11279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B82068-78F8-9011-AFEA-7696B6B39109}"/>
              </a:ext>
            </a:extLst>
          </p:cNvPr>
          <p:cNvSpPr txBox="1"/>
          <p:nvPr/>
        </p:nvSpPr>
        <p:spPr>
          <a:xfrm>
            <a:off x="10165397" y="4797699"/>
            <a:ext cx="18733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Send data for backup</a:t>
            </a:r>
          </a:p>
        </p:txBody>
      </p:sp>
      <p:cxnSp>
        <p:nvCxnSpPr>
          <p:cNvPr id="34" name="Curved Connector 33">
            <a:extLst>
              <a:ext uri="{FF2B5EF4-FFF2-40B4-BE49-F238E27FC236}">
                <a16:creationId xmlns:a16="http://schemas.microsoft.com/office/drawing/2014/main" id="{436D2565-60C0-CC59-29D3-76E81D369112}"/>
              </a:ext>
            </a:extLst>
          </p:cNvPr>
          <p:cNvCxnSpPr>
            <a:stCxn id="12" idx="1"/>
            <a:endCxn id="6" idx="1"/>
          </p:cNvCxnSpPr>
          <p:nvPr/>
        </p:nvCxnSpPr>
        <p:spPr>
          <a:xfrm rot="10800000" flipH="1">
            <a:off x="9439515" y="2190769"/>
            <a:ext cx="101091" cy="3679994"/>
          </a:xfrm>
          <a:prstGeom prst="curvedConnector3">
            <a:avLst>
              <a:gd name="adj1" fmla="val -146850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70F5D93-B935-B257-BC0E-15382FFEE63C}"/>
              </a:ext>
            </a:extLst>
          </p:cNvPr>
          <p:cNvSpPr txBox="1"/>
          <p:nvPr/>
        </p:nvSpPr>
        <p:spPr>
          <a:xfrm>
            <a:off x="7522718" y="5788680"/>
            <a:ext cx="1751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Restore data if data loss in controller</a:t>
            </a:r>
          </a:p>
        </p:txBody>
      </p:sp>
    </p:spTree>
    <p:extLst>
      <p:ext uri="{BB962C8B-B14F-4D97-AF65-F5344CB8AC3E}">
        <p14:creationId xmlns:p14="http://schemas.microsoft.com/office/powerpoint/2010/main" val="3885021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D5E13-08C4-B047-89DA-FFE87DBDD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purpose and scope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82D11-4275-9DF1-2964-9948E9428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SG" sz="2000" dirty="0"/>
              <a:t>Maintain a local backup of operational and time-series data from Reiri controllers.</a:t>
            </a:r>
          </a:p>
          <a:p>
            <a:pPr lvl="0"/>
            <a:r>
              <a:rPr lang="en-SG" sz="2000" dirty="0"/>
              <a:t>Create an historical data baseline by FTP download or local import.</a:t>
            </a:r>
          </a:p>
          <a:p>
            <a:pPr lvl="0"/>
            <a:r>
              <a:rPr lang="en-SG" sz="2000" dirty="0"/>
              <a:t>Continue receiving new database records in real time.</a:t>
            </a:r>
          </a:p>
          <a:p>
            <a:pPr lvl="0"/>
            <a:r>
              <a:rPr lang="en-SG" sz="2000" dirty="0"/>
              <a:t>Detect data gaps caused by network loss or application closure.</a:t>
            </a:r>
          </a:p>
          <a:p>
            <a:pPr lvl="0"/>
            <a:r>
              <a:rPr lang="en-SG" sz="2000" dirty="0"/>
              <a:t>Recover missing controller data and merge it into the local backup.</a:t>
            </a:r>
          </a:p>
          <a:p>
            <a:pPr lvl="0"/>
            <a:endParaRPr lang="en-SG" sz="2000" dirty="0"/>
          </a:p>
          <a:p>
            <a:pPr marL="0" lvl="0" indent="0">
              <a:buNone/>
            </a:pPr>
            <a:r>
              <a:rPr lang="en-SG" sz="1600" b="1" dirty="0"/>
              <a:t>Additional document to refer </a:t>
            </a:r>
            <a:r>
              <a:rPr lang="en-SG" sz="1600" dirty="0"/>
              <a:t>(can be found in team folder </a:t>
            </a:r>
            <a:r>
              <a:rPr lang="en-SG" sz="1600" dirty="0">
                <a:hlinkClick r:id="rId2"/>
              </a:rPr>
              <a:t>Reiri DB Backup Tool</a:t>
            </a:r>
            <a:r>
              <a:rPr lang="en-SG" sz="1600" dirty="0"/>
              <a:t> or project root):</a:t>
            </a:r>
          </a:p>
          <a:p>
            <a:r>
              <a:rPr lang="en-US" sz="1600" dirty="0"/>
              <a:t>Reiri DB Backup Tool - System Design</a:t>
            </a:r>
          </a:p>
          <a:p>
            <a:r>
              <a:rPr lang="en-US" sz="1600" dirty="0"/>
              <a:t>Reiri DB Backup Tool - Screen Transition</a:t>
            </a:r>
          </a:p>
          <a:p>
            <a:r>
              <a:rPr lang="en-US" sz="1600" dirty="0"/>
              <a:t>Reiri DB Backup Tool - Screen Specification</a:t>
            </a:r>
            <a:endParaRPr lang="en-SG" sz="1600" dirty="0"/>
          </a:p>
          <a:p>
            <a:pPr lvl="1"/>
            <a:endParaRPr lang="en-SG" sz="1600" dirty="0"/>
          </a:p>
          <a:p>
            <a:pPr lvl="0"/>
            <a:endParaRPr lang="en-SG" sz="2000" dirty="0"/>
          </a:p>
          <a:p>
            <a:pPr lvl="0"/>
            <a:endParaRPr lang="en-SG" sz="2000" dirty="0"/>
          </a:p>
          <a:p>
            <a:pPr marL="0" lvl="0" indent="0">
              <a:buNone/>
            </a:pPr>
            <a:endParaRPr lang="en-SG" sz="2000" dirty="0"/>
          </a:p>
          <a:p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719145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9C931-325E-D48B-2C5E-E9DBA86B0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Repositories &amp; Dependencies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44D00F-8F18-ED9D-BDFB-6EDBE3D19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5211067"/>
              </p:ext>
            </p:extLst>
          </p:nvPr>
        </p:nvGraphicFramePr>
        <p:xfrm>
          <a:off x="838200" y="1825625"/>
          <a:ext cx="10515597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68368947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012526252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062510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location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8596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reiri_db_backup_tool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repo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UI, backup workflow, monitoring, recovery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447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reiri_app_core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../</a:t>
                      </a:r>
                      <a:r>
                        <a:rPr lang="en-US" dirty="0" err="1"/>
                        <a:t>reiri_app_core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/>
                        <a:t>Controller communication, shared </a:t>
                      </a:r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</a:t>
                      </a:r>
                      <a:r>
                        <a:rPr lang="en-SG" dirty="0"/>
                        <a:t> object, SQLite writes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68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std_widget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../</a:t>
                      </a:r>
                      <a:r>
                        <a:rPr lang="en-US" dirty="0" err="1"/>
                        <a:t>std_widget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Shared UI widgets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160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reiri_setup_tool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Downloads original controller DB for comparing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140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db_compare_tool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dirty="0">
                          <a:hlinkClick r:id="rId2"/>
                        </a:rPr>
                        <a:t>DB Compare Tool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Compare SQLite tables and records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98385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EE8FC48-482E-71D7-8126-4293FD766EDB}"/>
              </a:ext>
            </a:extLst>
          </p:cNvPr>
          <p:cNvSpPr txBox="1"/>
          <p:nvPr/>
        </p:nvSpPr>
        <p:spPr>
          <a:xfrm>
            <a:off x="838200" y="5407445"/>
            <a:ext cx="50779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400" dirty="0">
                <a:latin typeface="Courier New" panose="02070309020205020404" pitchFamily="49" charset="0"/>
              </a:rPr>
              <a:t>&lt;development-root&gt;\</a:t>
            </a:r>
          </a:p>
          <a:p>
            <a:pPr>
              <a:buNone/>
            </a:pPr>
            <a:r>
              <a:rPr lang="en-SG" sz="1400" dirty="0">
                <a:latin typeface="Courier New" panose="02070309020205020404" pitchFamily="49" charset="0"/>
              </a:rPr>
              <a:t>├── </a:t>
            </a:r>
            <a:r>
              <a:rPr lang="en-SG" sz="1400" dirty="0" err="1">
                <a:latin typeface="Courier New" panose="02070309020205020404" pitchFamily="49" charset="0"/>
              </a:rPr>
              <a:t>reiri_db_backup_tool</a:t>
            </a:r>
            <a:r>
              <a:rPr lang="en-SG" sz="1400" dirty="0">
                <a:latin typeface="Courier New" panose="02070309020205020404" pitchFamily="49" charset="0"/>
              </a:rPr>
              <a:t>\</a:t>
            </a:r>
          </a:p>
          <a:p>
            <a:pPr>
              <a:buNone/>
            </a:pPr>
            <a:r>
              <a:rPr lang="en-SG" sz="1400" dirty="0">
                <a:latin typeface="Courier New" panose="02070309020205020404" pitchFamily="49" charset="0"/>
              </a:rPr>
              <a:t>├── </a:t>
            </a:r>
            <a:r>
              <a:rPr lang="en-SG" sz="1400" dirty="0" err="1">
                <a:latin typeface="Courier New" panose="02070309020205020404" pitchFamily="49" charset="0"/>
              </a:rPr>
              <a:t>reiri_app_core</a:t>
            </a:r>
            <a:r>
              <a:rPr lang="en-SG" sz="1400" dirty="0">
                <a:latin typeface="Courier New" panose="02070309020205020404" pitchFamily="49" charset="0"/>
              </a:rPr>
              <a:t>\</a:t>
            </a:r>
          </a:p>
          <a:p>
            <a:pPr>
              <a:buNone/>
            </a:pPr>
            <a:r>
              <a:rPr lang="en-SG" sz="1400" dirty="0">
                <a:latin typeface="Courier New" panose="02070309020205020404" pitchFamily="49" charset="0"/>
              </a:rPr>
              <a:t>└── </a:t>
            </a:r>
            <a:r>
              <a:rPr lang="en-SG" sz="1400" dirty="0" err="1">
                <a:latin typeface="Courier New" panose="02070309020205020404" pitchFamily="49" charset="0"/>
              </a:rPr>
              <a:t>std_widget</a:t>
            </a:r>
            <a:r>
              <a:rPr lang="en-SG" sz="1400" dirty="0">
                <a:latin typeface="Courier New" panose="02070309020205020404" pitchFamily="49" charset="0"/>
              </a:rPr>
              <a:t>\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8C65DD-61A7-2D2A-4FB8-BA0BD1281C96}"/>
              </a:ext>
            </a:extLst>
          </p:cNvPr>
          <p:cNvSpPr txBox="1"/>
          <p:nvPr/>
        </p:nvSpPr>
        <p:spPr>
          <a:xfrm>
            <a:off x="5916168" y="5592110"/>
            <a:ext cx="34680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Login this controller for testing:</a:t>
            </a:r>
          </a:p>
          <a:p>
            <a:r>
              <a:rPr lang="en-US" sz="1600" i="1" dirty="0">
                <a:solidFill>
                  <a:schemeClr val="accent6"/>
                </a:solidFill>
              </a:rPr>
              <a:t>Reiri Office TouchF04-Don MSM1</a:t>
            </a:r>
            <a:endParaRPr lang="en-SG" sz="1600" i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1244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74260-AAA9-EAFE-869F-11C8BE710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Application 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7D272F-DC1A-BB04-6CC7-A5E7E04030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7678" y="1659552"/>
            <a:ext cx="5506435" cy="48333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9795C9-4D77-D109-B520-031CEE3A245C}"/>
              </a:ext>
            </a:extLst>
          </p:cNvPr>
          <p:cNvSpPr txBox="1"/>
          <p:nvPr/>
        </p:nvSpPr>
        <p:spPr>
          <a:xfrm>
            <a:off x="7207758" y="3076119"/>
            <a:ext cx="475259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/>
              <a:t>Key behaviour</a:t>
            </a:r>
            <a:endParaRPr lang="en-S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dirty="0"/>
              <a:t>Auto-login may move directly from Splash to the backup check.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dirty="0"/>
              <a:t>Initial backup is required if any managed database is missing or empty.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dirty="0"/>
              <a:t>A valid initial backup allows the application to open Home directly.</a:t>
            </a:r>
          </a:p>
        </p:txBody>
      </p:sp>
    </p:spTree>
    <p:extLst>
      <p:ext uri="{BB962C8B-B14F-4D97-AF65-F5344CB8AC3E}">
        <p14:creationId xmlns:p14="http://schemas.microsoft.com/office/powerpoint/2010/main" val="1527156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0C53-06A9-09CF-9C12-A7F241AA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databases</a:t>
            </a:r>
            <a:endParaRPr lang="en-SG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A56FE1C-CA25-8E7A-C9B8-2EF3ED33CD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224802"/>
              </p:ext>
            </p:extLst>
          </p:nvPr>
        </p:nvGraphicFramePr>
        <p:xfrm>
          <a:off x="838200" y="1825625"/>
          <a:ext cx="10515600" cy="357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144">
                  <a:extLst>
                    <a:ext uri="{9D8B030D-6E8A-4147-A177-3AD203B41FA5}">
                      <a16:colId xmlns:a16="http://schemas.microsoft.com/office/drawing/2014/main" val="2329585404"/>
                    </a:ext>
                  </a:extLst>
                </a:gridCol>
                <a:gridCol w="3343656">
                  <a:extLst>
                    <a:ext uri="{9D8B030D-6E8A-4147-A177-3AD203B41FA5}">
                      <a16:colId xmlns:a16="http://schemas.microsoft.com/office/drawing/2014/main" val="14018920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6907974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2071764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Expected interval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key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927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history.db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 history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Event-based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Composite event identity</a:t>
                      </a:r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4272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meter.db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Meter values and consumption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 minutes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+ id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231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optime.db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Operating time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15 minutes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 + id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562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trend.db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Trend values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 minutes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 + id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383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ppd.db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PPD calculation data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 minutes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date + id</a:t>
                      </a:r>
                      <a:endParaRPr lang="en-SG" dirty="0"/>
                    </a:p>
                    <a:p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218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372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23C2F-27F5-03CD-E755-F9849F61F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Folder Structure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7CCB74B-4EDD-52FC-4EAF-124003D4D8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0396" y="2249324"/>
            <a:ext cx="6331207" cy="3424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57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169F1-F781-43DC-060D-06AE2075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Backup Method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877A6-28B4-D33D-84EE-ACECFEBFC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SG" sz="2000" dirty="0"/>
              <a:t>The initial backup establishes the historical data baseline. After completion, newly received data is appended continuously in real time.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248B55-C791-3D10-095E-241DEFB90F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9214391"/>
              </p:ext>
            </p:extLst>
          </p:nvPr>
        </p:nvGraphicFramePr>
        <p:xfrm>
          <a:off x="838200" y="2990374"/>
          <a:ext cx="10838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9320">
                  <a:extLst>
                    <a:ext uri="{9D8B030D-6E8A-4147-A177-3AD203B41FA5}">
                      <a16:colId xmlns:a16="http://schemas.microsoft.com/office/drawing/2014/main" val="2440607688"/>
                    </a:ext>
                  </a:extLst>
                </a:gridCol>
                <a:gridCol w="4471416">
                  <a:extLst>
                    <a:ext uri="{9D8B030D-6E8A-4147-A177-3AD203B41FA5}">
                      <a16:colId xmlns:a16="http://schemas.microsoft.com/office/drawing/2014/main" val="2600090456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19110448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FTP Backup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Import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22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 source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Download directly from controller</a:t>
                      </a:r>
                      <a:endParaRPr lang="en-SG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Import DB files from local folder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949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Connection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Requires cloud network and FTP access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controller connection required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0347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Best used when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Controller is online and reachable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Backup files are already available locally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6121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6850671-5219-8385-1128-6D4BD9E66EC2}"/>
              </a:ext>
            </a:extLst>
          </p:cNvPr>
          <p:cNvSpPr txBox="1"/>
          <p:nvPr/>
        </p:nvSpPr>
        <p:spPr>
          <a:xfrm>
            <a:off x="767715" y="5127089"/>
            <a:ext cx="109796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/>
              <a:t>Data flow</a:t>
            </a:r>
          </a:p>
          <a:p>
            <a:pPr>
              <a:buNone/>
            </a:pPr>
            <a:r>
              <a:rPr lang="en-SG" dirty="0"/>
              <a:t>Choose backup method → Load historical data → </a:t>
            </a:r>
            <a:r>
              <a:rPr lang="en-US" dirty="0"/>
              <a:t>Continuous</a:t>
            </a:r>
            <a:r>
              <a:rPr lang="en-SG" dirty="0"/>
              <a:t> real-time backup</a:t>
            </a:r>
          </a:p>
        </p:txBody>
      </p:sp>
    </p:spTree>
    <p:extLst>
      <p:ext uri="{BB962C8B-B14F-4D97-AF65-F5344CB8AC3E}">
        <p14:creationId xmlns:p14="http://schemas.microsoft.com/office/powerpoint/2010/main" val="2392221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348A-6FCB-8D39-0B92-FB293BACE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real-time backup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6F03CF-8094-1A43-38FE-CF67AFC338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4633" y="1551807"/>
            <a:ext cx="4189199" cy="50958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C3E1FD-AE12-1305-9FAF-BC0BB30D5076}"/>
              </a:ext>
            </a:extLst>
          </p:cNvPr>
          <p:cNvSpPr txBox="1"/>
          <p:nvPr/>
        </p:nvSpPr>
        <p:spPr>
          <a:xfrm>
            <a:off x="6164857" y="2158088"/>
            <a:ext cx="60944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/>
              <a:t>Start conditions</a:t>
            </a:r>
            <a:endParaRPr lang="en-SG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dirty="0"/>
              <a:t>Local backup database is ready.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dirty="0"/>
              <a:t>Controller connection state is </a:t>
            </a:r>
            <a:r>
              <a:rPr lang="en-SG" dirty="0">
                <a:latin typeface="Courier New" panose="02070309020205020404" pitchFamily="49" charset="0"/>
              </a:rPr>
              <a:t>ready</a:t>
            </a:r>
            <a:r>
              <a:rPr lang="en-SG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dirty="0"/>
              <a:t>The subscription has not already been started.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864651-6459-57C0-285F-F79E16EDFF5A}"/>
              </a:ext>
            </a:extLst>
          </p:cNvPr>
          <p:cNvSpPr txBox="1"/>
          <p:nvPr/>
        </p:nvSpPr>
        <p:spPr>
          <a:xfrm>
            <a:off x="6164857" y="4099747"/>
            <a:ext cx="5539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/>
              <a:t>Important design point</a:t>
            </a:r>
            <a:endParaRPr lang="en-S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 err="1">
                <a:latin typeface="Courier New" panose="02070309020205020404" pitchFamily="49" charset="0"/>
              </a:rPr>
              <a:t>app.setDbPath</a:t>
            </a:r>
            <a:r>
              <a:rPr lang="en-SG" dirty="0">
                <a:latin typeface="Courier New" panose="02070309020205020404" pitchFamily="49" charset="0"/>
              </a:rPr>
              <a:t>()</a:t>
            </a:r>
            <a:r>
              <a:rPr lang="en-SG" dirty="0"/>
              <a:t> determines whether incoming data is written to MAIN </a:t>
            </a:r>
            <a:r>
              <a:rPr lang="en-SG" dirty="0">
                <a:latin typeface="Courier New" panose="02070309020205020404" pitchFamily="49" charset="0"/>
              </a:rPr>
              <a:t>DB</a:t>
            </a:r>
            <a:r>
              <a:rPr lang="en-SG" dirty="0"/>
              <a:t> or recovery </a:t>
            </a:r>
            <a:r>
              <a:rPr lang="en-SG" dirty="0">
                <a:latin typeface="Courier New" panose="02070309020205020404" pitchFamily="49" charset="0"/>
              </a:rPr>
              <a:t>DB_TEMP</a:t>
            </a:r>
            <a:r>
              <a:rPr lang="en-S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93376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B6C7-4948-3141-7006-3BE985628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 gap detection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2383927-538E-5BCA-495D-D36DDAD55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157" y="1540491"/>
            <a:ext cx="5014548" cy="49523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310F38A-0899-E820-CDB6-B4283006A1AB}"/>
              </a:ext>
            </a:extLst>
          </p:cNvPr>
          <p:cNvSpPr txBox="1"/>
          <p:nvPr/>
        </p:nvSpPr>
        <p:spPr>
          <a:xfrm>
            <a:off x="5999226" y="1986248"/>
            <a:ext cx="609447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600" b="1" dirty="0"/>
              <a:t>Why TEMP is selected first</a:t>
            </a:r>
            <a:endParaRPr lang="en-SG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1600" dirty="0"/>
              <a:t>Gap calculation is asynchronous.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1600" dirty="0"/>
              <a:t>A new controller packet may arrive during calculation.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1600" dirty="0"/>
              <a:t>Staging to </a:t>
            </a:r>
            <a:r>
              <a:rPr lang="en-SG" sz="1600" dirty="0">
                <a:latin typeface="Courier New" panose="02070309020205020404" pitchFamily="49" charset="0"/>
              </a:rPr>
              <a:t>DB_TEMP</a:t>
            </a:r>
            <a:r>
              <a:rPr lang="en-SG" sz="1600" dirty="0"/>
              <a:t> prevents live records from entering MAIN before the correct recovery decision is known.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8BB21-F3E3-9BF3-2ADD-FDBD24F61262}"/>
              </a:ext>
            </a:extLst>
          </p:cNvPr>
          <p:cNvSpPr txBox="1"/>
          <p:nvPr/>
        </p:nvSpPr>
        <p:spPr>
          <a:xfrm>
            <a:off x="6096000" y="4016683"/>
            <a:ext cx="59009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sz="1600" b="1" dirty="0"/>
              <a:t>Gap rules</a:t>
            </a:r>
            <a:endParaRPr lang="en-SG" sz="16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1600" dirty="0" err="1">
                <a:latin typeface="Courier New" panose="02070309020205020404" pitchFamily="49" charset="0"/>
              </a:rPr>
              <a:t>trend.db</a:t>
            </a:r>
            <a:r>
              <a:rPr lang="en-SG" sz="1600" dirty="0"/>
              <a:t>: check missed 5-minute boundaries (3:30pm, 3:35pm etc).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1600" dirty="0" err="1">
                <a:latin typeface="Courier New" panose="02070309020205020404" pitchFamily="49" charset="0"/>
              </a:rPr>
              <a:t>meter.db</a:t>
            </a:r>
            <a:r>
              <a:rPr lang="en-SG" sz="1600" dirty="0"/>
              <a:t>, </a:t>
            </a:r>
            <a:r>
              <a:rPr lang="en-SG" sz="1600" dirty="0" err="1">
                <a:latin typeface="Courier New" panose="02070309020205020404" pitchFamily="49" charset="0"/>
              </a:rPr>
              <a:t>optime.db</a:t>
            </a:r>
            <a:r>
              <a:rPr lang="en-SG" sz="1600" dirty="0"/>
              <a:t>, </a:t>
            </a:r>
            <a:r>
              <a:rPr lang="en-SG" sz="1600" dirty="0" err="1">
                <a:latin typeface="Courier New" panose="02070309020205020404" pitchFamily="49" charset="0"/>
              </a:rPr>
              <a:t>ppd.db</a:t>
            </a:r>
            <a:r>
              <a:rPr lang="en-SG" sz="1600" dirty="0"/>
              <a:t>: check missed 15-minute boundaries (3:30pm, 3:45pm etc).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SG" sz="1600" dirty="0"/>
              <a:t>Any positive disconnect window may contain missing </a:t>
            </a:r>
            <a:r>
              <a:rPr lang="en-SG" sz="1600" dirty="0" err="1">
                <a:latin typeface="Courier New" panose="02070309020205020404" pitchFamily="49" charset="0"/>
              </a:rPr>
              <a:t>history.db</a:t>
            </a:r>
            <a:r>
              <a:rPr lang="en-SG" sz="1600" dirty="0"/>
              <a:t> events.</a:t>
            </a:r>
          </a:p>
        </p:txBody>
      </p:sp>
    </p:spTree>
    <p:extLst>
      <p:ext uri="{BB962C8B-B14F-4D97-AF65-F5344CB8AC3E}">
        <p14:creationId xmlns:p14="http://schemas.microsoft.com/office/powerpoint/2010/main" val="932822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BC63-3036-EC57-8EE1-4B3BF31E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</a:t>
            </a:r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DA1AB15-9902-2236-BC49-AFAA0C0E4BC9}"/>
              </a:ext>
            </a:extLst>
          </p:cNvPr>
          <p:cNvCxnSpPr>
            <a:cxnSpLocks/>
          </p:cNvCxnSpPr>
          <p:nvPr/>
        </p:nvCxnSpPr>
        <p:spPr>
          <a:xfrm>
            <a:off x="742191" y="3383280"/>
            <a:ext cx="1043254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687F82-CE0D-04AD-DF22-A0A289C46C72}"/>
              </a:ext>
            </a:extLst>
          </p:cNvPr>
          <p:cNvCxnSpPr/>
          <p:nvPr/>
        </p:nvCxnSpPr>
        <p:spPr>
          <a:xfrm>
            <a:off x="2898648" y="2899928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895A3CB-71FE-5B75-F592-25B169AAC2E8}"/>
              </a:ext>
            </a:extLst>
          </p:cNvPr>
          <p:cNvSpPr txBox="1"/>
          <p:nvPr/>
        </p:nvSpPr>
        <p:spPr>
          <a:xfrm>
            <a:off x="678183" y="2195797"/>
            <a:ext cx="215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Real-time backup</a:t>
            </a:r>
          </a:p>
          <a:p>
            <a:r>
              <a:rPr lang="en-US" sz="1200" dirty="0"/>
              <a:t>(write to MAIN DB)</a:t>
            </a:r>
            <a:endParaRPr lang="en-SG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8B0FB64-452D-085A-A06C-40EB355343E8}"/>
              </a:ext>
            </a:extLst>
          </p:cNvPr>
          <p:cNvCxnSpPr/>
          <p:nvPr/>
        </p:nvCxnSpPr>
        <p:spPr>
          <a:xfrm>
            <a:off x="4331207" y="2899928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9B24159-1F96-D83C-29DD-554D0FB5DCBC}"/>
              </a:ext>
            </a:extLst>
          </p:cNvPr>
          <p:cNvSpPr txBox="1"/>
          <p:nvPr/>
        </p:nvSpPr>
        <p:spPr>
          <a:xfrm>
            <a:off x="2651760" y="3827496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4pm, 28</a:t>
            </a:r>
            <a:r>
              <a:rPr lang="en-US" sz="1200" baseline="30000" dirty="0"/>
              <a:t>th</a:t>
            </a:r>
            <a:r>
              <a:rPr lang="en-US" sz="1200" dirty="0"/>
              <a:t> Jul</a:t>
            </a:r>
            <a:endParaRPr lang="en-SG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56C40C-F252-92DA-3B02-FDA910D472C9}"/>
              </a:ext>
            </a:extLst>
          </p:cNvPr>
          <p:cNvSpPr txBox="1"/>
          <p:nvPr/>
        </p:nvSpPr>
        <p:spPr>
          <a:xfrm>
            <a:off x="4087367" y="3827496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6pm</a:t>
            </a:r>
            <a:endParaRPr lang="en-SG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103E4D-6AD0-FD19-308C-04A23957F5AD}"/>
              </a:ext>
            </a:extLst>
          </p:cNvPr>
          <p:cNvSpPr txBox="1"/>
          <p:nvPr/>
        </p:nvSpPr>
        <p:spPr>
          <a:xfrm>
            <a:off x="4263389" y="2172301"/>
            <a:ext cx="3126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Real-time backup</a:t>
            </a:r>
          </a:p>
          <a:p>
            <a:r>
              <a:rPr lang="en-US" sz="1200" dirty="0"/>
              <a:t> switch writing to TEMP DB</a:t>
            </a:r>
            <a:endParaRPr lang="en-SG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9A1056-5EBD-A87E-F463-ED9A2C5B3CB1}"/>
              </a:ext>
            </a:extLst>
          </p:cNvPr>
          <p:cNvSpPr txBox="1"/>
          <p:nvPr/>
        </p:nvSpPr>
        <p:spPr>
          <a:xfrm>
            <a:off x="2584705" y="4191950"/>
            <a:ext cx="9174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Controller down</a:t>
            </a:r>
            <a:endParaRPr lang="en-SG" sz="12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105894-849C-6E2E-5E57-0AD80164C029}"/>
              </a:ext>
            </a:extLst>
          </p:cNvPr>
          <p:cNvCxnSpPr/>
          <p:nvPr/>
        </p:nvCxnSpPr>
        <p:spPr>
          <a:xfrm>
            <a:off x="6879336" y="2960870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CD2767A-017F-F78D-4347-D77924CFFD97}"/>
              </a:ext>
            </a:extLst>
          </p:cNvPr>
          <p:cNvSpPr txBox="1"/>
          <p:nvPr/>
        </p:nvSpPr>
        <p:spPr>
          <a:xfrm>
            <a:off x="6421371" y="3820465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3am , 29</a:t>
            </a:r>
            <a:r>
              <a:rPr lang="en-US" sz="1200" baseline="30000" dirty="0"/>
              <a:t>th</a:t>
            </a:r>
            <a:r>
              <a:rPr lang="en-US" sz="1200" dirty="0"/>
              <a:t> Jul</a:t>
            </a:r>
            <a:endParaRPr lang="en-SG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210237-9D77-8B0F-1466-4D58B476FD23}"/>
              </a:ext>
            </a:extLst>
          </p:cNvPr>
          <p:cNvCxnSpPr>
            <a:cxnSpLocks/>
          </p:cNvCxnSpPr>
          <p:nvPr/>
        </p:nvCxnSpPr>
        <p:spPr>
          <a:xfrm>
            <a:off x="4334255" y="2669096"/>
            <a:ext cx="254508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23BF585-FC69-A4A6-EA19-67E777320062}"/>
              </a:ext>
            </a:extLst>
          </p:cNvPr>
          <p:cNvSpPr txBox="1"/>
          <p:nvPr/>
        </p:nvSpPr>
        <p:spPr>
          <a:xfrm>
            <a:off x="3990974" y="4218247"/>
            <a:ext cx="98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Controller reconnect</a:t>
            </a:r>
            <a:endParaRPr lang="en-SG" sz="1200" dirty="0">
              <a:solidFill>
                <a:schemeClr val="accent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A42EA9-4B78-62BD-3A17-3A65D53C0955}"/>
              </a:ext>
            </a:extLst>
          </p:cNvPr>
          <p:cNvSpPr txBox="1"/>
          <p:nvPr/>
        </p:nvSpPr>
        <p:spPr>
          <a:xfrm>
            <a:off x="7825741" y="2063607"/>
            <a:ext cx="3784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After missing data recovered,</a:t>
            </a:r>
          </a:p>
          <a:p>
            <a:r>
              <a:rPr lang="en-US" sz="1200" dirty="0"/>
              <a:t>real-time backup switch back to MAIN DB</a:t>
            </a:r>
            <a:endParaRPr lang="en-SG" sz="12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27FC023-1BDD-C391-5B32-21CAF965DF80}"/>
              </a:ext>
            </a:extLst>
          </p:cNvPr>
          <p:cNvCxnSpPr>
            <a:cxnSpLocks/>
          </p:cNvCxnSpPr>
          <p:nvPr/>
        </p:nvCxnSpPr>
        <p:spPr>
          <a:xfrm>
            <a:off x="7856978" y="2669096"/>
            <a:ext cx="33177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3E1CC32-C358-DE75-3D71-62CB6C14E0C3}"/>
              </a:ext>
            </a:extLst>
          </p:cNvPr>
          <p:cNvSpPr txBox="1"/>
          <p:nvPr/>
        </p:nvSpPr>
        <p:spPr>
          <a:xfrm>
            <a:off x="6076188" y="4339931"/>
            <a:ext cx="3531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/>
              <a:t>Pull missing data (4-6pm) from controller.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Append 4-6pm data into MAIN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Append 6pm-3am data from TEMP to MAIN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DD3A7F0-DFEB-9D6E-E9DB-2D074D4BCDDC}"/>
              </a:ext>
            </a:extLst>
          </p:cNvPr>
          <p:cNvCxnSpPr/>
          <p:nvPr/>
        </p:nvCxnSpPr>
        <p:spPr>
          <a:xfrm>
            <a:off x="7856978" y="2960870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CB2E8C8-3366-AE77-4631-B74E7E98A361}"/>
              </a:ext>
            </a:extLst>
          </p:cNvPr>
          <p:cNvSpPr txBox="1"/>
          <p:nvPr/>
        </p:nvSpPr>
        <p:spPr>
          <a:xfrm>
            <a:off x="7560750" y="3827496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3:02am</a:t>
            </a:r>
            <a:endParaRPr lang="en-SG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FC28709-6F60-1D61-C8AE-8FAB6146B3F1}"/>
              </a:ext>
            </a:extLst>
          </p:cNvPr>
          <p:cNvCxnSpPr>
            <a:cxnSpLocks/>
          </p:cNvCxnSpPr>
          <p:nvPr/>
        </p:nvCxnSpPr>
        <p:spPr>
          <a:xfrm>
            <a:off x="6879336" y="4266248"/>
            <a:ext cx="9776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E66E62E-7DF5-9B50-0048-5793C00FBE0C}"/>
              </a:ext>
            </a:extLst>
          </p:cNvPr>
          <p:cNvCxnSpPr>
            <a:cxnSpLocks/>
          </p:cNvCxnSpPr>
          <p:nvPr/>
        </p:nvCxnSpPr>
        <p:spPr>
          <a:xfrm>
            <a:off x="742191" y="2674240"/>
            <a:ext cx="2156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76AB2A36-8163-868C-C759-41A9429C8589}"/>
              </a:ext>
            </a:extLst>
          </p:cNvPr>
          <p:cNvSpPr txBox="1"/>
          <p:nvPr/>
        </p:nvSpPr>
        <p:spPr>
          <a:xfrm>
            <a:off x="6938772" y="2921615"/>
            <a:ext cx="98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Scheduled recovery</a:t>
            </a:r>
            <a:endParaRPr lang="en-SG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70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E0B30-66FD-040D-2DB2-18E2D4DA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A742-0AC0-D37D-81F3-46BFEB66B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</a:t>
            </a:r>
            <a:endParaRPr lang="en-S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06E2CF-F040-2BE1-73CE-6C3015BB115D}"/>
              </a:ext>
            </a:extLst>
          </p:cNvPr>
          <p:cNvCxnSpPr>
            <a:cxnSpLocks/>
          </p:cNvCxnSpPr>
          <p:nvPr/>
        </p:nvCxnSpPr>
        <p:spPr>
          <a:xfrm>
            <a:off x="196216" y="3429000"/>
            <a:ext cx="117668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71F87D9-7933-83EB-F2FB-F7BDE977D10E}"/>
              </a:ext>
            </a:extLst>
          </p:cNvPr>
          <p:cNvCxnSpPr/>
          <p:nvPr/>
        </p:nvCxnSpPr>
        <p:spPr>
          <a:xfrm>
            <a:off x="2352673" y="2945648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F2A312B-0B90-D632-7B38-C7235863B70E}"/>
              </a:ext>
            </a:extLst>
          </p:cNvPr>
          <p:cNvSpPr txBox="1"/>
          <p:nvPr/>
        </p:nvSpPr>
        <p:spPr>
          <a:xfrm>
            <a:off x="207838" y="2253151"/>
            <a:ext cx="2153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Real-time backup</a:t>
            </a:r>
          </a:p>
          <a:p>
            <a:r>
              <a:rPr lang="en-US" sz="1200" dirty="0"/>
              <a:t>(write to MAIN DB)</a:t>
            </a:r>
            <a:endParaRPr lang="en-SG" sz="12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3E8571-953F-A8C8-81DC-277A408B12EE}"/>
              </a:ext>
            </a:extLst>
          </p:cNvPr>
          <p:cNvCxnSpPr/>
          <p:nvPr/>
        </p:nvCxnSpPr>
        <p:spPr>
          <a:xfrm>
            <a:off x="3785232" y="2945648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838EA22-896C-C432-7F94-A9E9667355A2}"/>
              </a:ext>
            </a:extLst>
          </p:cNvPr>
          <p:cNvSpPr txBox="1"/>
          <p:nvPr/>
        </p:nvSpPr>
        <p:spPr>
          <a:xfrm>
            <a:off x="2020442" y="3873216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10am, 28</a:t>
            </a:r>
            <a:r>
              <a:rPr lang="en-US" sz="1200" baseline="30000" dirty="0"/>
              <a:t>th</a:t>
            </a:r>
            <a:r>
              <a:rPr lang="en-US" sz="1200" dirty="0"/>
              <a:t> Jul</a:t>
            </a:r>
            <a:endParaRPr lang="en-SG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9ED1C1A-116A-2251-3F28-D03F51C83C30}"/>
              </a:ext>
            </a:extLst>
          </p:cNvPr>
          <p:cNvSpPr txBox="1"/>
          <p:nvPr/>
        </p:nvSpPr>
        <p:spPr>
          <a:xfrm>
            <a:off x="3541392" y="3873216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11am</a:t>
            </a:r>
            <a:endParaRPr lang="en-SG" sz="12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DF7A38-DDFF-E023-9C23-D69125BE807E}"/>
              </a:ext>
            </a:extLst>
          </p:cNvPr>
          <p:cNvSpPr txBox="1"/>
          <p:nvPr/>
        </p:nvSpPr>
        <p:spPr>
          <a:xfrm>
            <a:off x="3717414" y="2218021"/>
            <a:ext cx="3126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Real-time backup</a:t>
            </a:r>
          </a:p>
          <a:p>
            <a:r>
              <a:rPr lang="en-US" sz="1200" dirty="0"/>
              <a:t> switch writing to TEMP DB</a:t>
            </a:r>
            <a:endParaRPr lang="en-SG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E24E96-5BE8-5FD1-5DC1-4A67C10F216C}"/>
              </a:ext>
            </a:extLst>
          </p:cNvPr>
          <p:cNvSpPr txBox="1"/>
          <p:nvPr/>
        </p:nvSpPr>
        <p:spPr>
          <a:xfrm>
            <a:off x="2020442" y="4250956"/>
            <a:ext cx="92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Controller down</a:t>
            </a:r>
            <a:endParaRPr lang="en-SG" sz="1200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72E88E-275C-1205-8664-9201CDD57B21}"/>
              </a:ext>
            </a:extLst>
          </p:cNvPr>
          <p:cNvCxnSpPr/>
          <p:nvPr/>
        </p:nvCxnSpPr>
        <p:spPr>
          <a:xfrm>
            <a:off x="9052176" y="3022092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0EEAAEC-66B2-58B9-ED31-3052BB5B4F2B}"/>
              </a:ext>
            </a:extLst>
          </p:cNvPr>
          <p:cNvSpPr txBox="1"/>
          <p:nvPr/>
        </p:nvSpPr>
        <p:spPr>
          <a:xfrm>
            <a:off x="8693656" y="3934519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3am , 29</a:t>
            </a:r>
            <a:r>
              <a:rPr lang="en-US" sz="1200" baseline="30000" dirty="0"/>
              <a:t>th</a:t>
            </a:r>
            <a:r>
              <a:rPr lang="en-US" sz="1200" dirty="0"/>
              <a:t> Jul</a:t>
            </a:r>
            <a:endParaRPr lang="en-SG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426146D-F8EF-517E-9071-177F95906911}"/>
              </a:ext>
            </a:extLst>
          </p:cNvPr>
          <p:cNvCxnSpPr>
            <a:cxnSpLocks/>
          </p:cNvCxnSpPr>
          <p:nvPr/>
        </p:nvCxnSpPr>
        <p:spPr>
          <a:xfrm>
            <a:off x="3788280" y="2714816"/>
            <a:ext cx="19171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615A154-79BE-A1F5-68A9-DCEB874772A0}"/>
              </a:ext>
            </a:extLst>
          </p:cNvPr>
          <p:cNvSpPr txBox="1"/>
          <p:nvPr/>
        </p:nvSpPr>
        <p:spPr>
          <a:xfrm>
            <a:off x="3485006" y="4298492"/>
            <a:ext cx="10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Controller reconnect</a:t>
            </a:r>
            <a:endParaRPr lang="en-SG" sz="1200" dirty="0">
              <a:solidFill>
                <a:schemeClr val="accent6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DA43542-1BAA-B639-D928-F673AA308401}"/>
              </a:ext>
            </a:extLst>
          </p:cNvPr>
          <p:cNvSpPr txBox="1"/>
          <p:nvPr/>
        </p:nvSpPr>
        <p:spPr>
          <a:xfrm>
            <a:off x="9944094" y="2032837"/>
            <a:ext cx="2247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After missing data recovered,</a:t>
            </a:r>
          </a:p>
          <a:p>
            <a:r>
              <a:rPr lang="en-US" sz="1200" dirty="0"/>
              <a:t>real-time backup switch back to MAIN DB</a:t>
            </a:r>
            <a:endParaRPr lang="en-SG" sz="12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785329C-B70D-604A-260C-67CD451DAE7F}"/>
              </a:ext>
            </a:extLst>
          </p:cNvPr>
          <p:cNvCxnSpPr>
            <a:cxnSpLocks/>
          </p:cNvCxnSpPr>
          <p:nvPr/>
        </p:nvCxnSpPr>
        <p:spPr>
          <a:xfrm>
            <a:off x="9944094" y="2760901"/>
            <a:ext cx="2018923" cy="100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BE665CD-E3BF-4E55-5881-26FE86E938B5}"/>
              </a:ext>
            </a:extLst>
          </p:cNvPr>
          <p:cNvSpPr txBox="1"/>
          <p:nvPr/>
        </p:nvSpPr>
        <p:spPr>
          <a:xfrm>
            <a:off x="8566021" y="4453129"/>
            <a:ext cx="33969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US" sz="1200" dirty="0"/>
              <a:t>Pull missing data (10-11am &amp; 4-6pm) from controller.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Append 10-11am data into MAIN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Append 11am-4pm data from TEMP to MAIN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Append 4-6pm into MAIN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200" dirty="0"/>
              <a:t>Append 6pm-3am data from TEMP to MAIN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840EC47-9966-D65B-DFD6-6A2E4E8789B2}"/>
              </a:ext>
            </a:extLst>
          </p:cNvPr>
          <p:cNvCxnSpPr/>
          <p:nvPr/>
        </p:nvCxnSpPr>
        <p:spPr>
          <a:xfrm>
            <a:off x="9958192" y="3022092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923C517-35AD-DB2E-5F16-2B8026562752}"/>
              </a:ext>
            </a:extLst>
          </p:cNvPr>
          <p:cNvSpPr txBox="1"/>
          <p:nvPr/>
        </p:nvSpPr>
        <p:spPr>
          <a:xfrm>
            <a:off x="9847706" y="3948941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3:05am</a:t>
            </a:r>
            <a:endParaRPr lang="en-SG" sz="12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E5F20FF8-71A8-2521-650E-F0BC9EF0D489}"/>
              </a:ext>
            </a:extLst>
          </p:cNvPr>
          <p:cNvCxnSpPr>
            <a:cxnSpLocks/>
          </p:cNvCxnSpPr>
          <p:nvPr/>
        </p:nvCxnSpPr>
        <p:spPr>
          <a:xfrm>
            <a:off x="9052176" y="4325395"/>
            <a:ext cx="9814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24A70C9-933D-36F6-9942-ECF00889B8BE}"/>
              </a:ext>
            </a:extLst>
          </p:cNvPr>
          <p:cNvCxnSpPr/>
          <p:nvPr/>
        </p:nvCxnSpPr>
        <p:spPr>
          <a:xfrm>
            <a:off x="5705474" y="2964164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9AE7DA-0CF2-3961-C631-E25B12C24E6E}"/>
              </a:ext>
            </a:extLst>
          </p:cNvPr>
          <p:cNvCxnSpPr/>
          <p:nvPr/>
        </p:nvCxnSpPr>
        <p:spPr>
          <a:xfrm>
            <a:off x="7138033" y="2964164"/>
            <a:ext cx="0" cy="813816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42526C-CD1F-A57B-321B-AF3584CB2CC6}"/>
              </a:ext>
            </a:extLst>
          </p:cNvPr>
          <p:cNvSpPr txBox="1"/>
          <p:nvPr/>
        </p:nvSpPr>
        <p:spPr>
          <a:xfrm>
            <a:off x="5458586" y="3891732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4pm</a:t>
            </a:r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19DA43-89E6-F645-7CBF-A77B80E1D50B}"/>
              </a:ext>
            </a:extLst>
          </p:cNvPr>
          <p:cNvSpPr txBox="1"/>
          <p:nvPr/>
        </p:nvSpPr>
        <p:spPr>
          <a:xfrm>
            <a:off x="6894193" y="3891732"/>
            <a:ext cx="143560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6pm</a:t>
            </a:r>
            <a:endParaRPr lang="en-SG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3E457A-BE7A-8A3D-FD76-ED7DB43120E9}"/>
              </a:ext>
            </a:extLst>
          </p:cNvPr>
          <p:cNvSpPr txBox="1"/>
          <p:nvPr/>
        </p:nvSpPr>
        <p:spPr>
          <a:xfrm>
            <a:off x="7002778" y="2181570"/>
            <a:ext cx="31264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Real-time backup continue </a:t>
            </a:r>
          </a:p>
          <a:p>
            <a:r>
              <a:rPr lang="en-US" sz="1200" dirty="0"/>
              <a:t>writing to TEMP DB</a:t>
            </a:r>
            <a:endParaRPr lang="en-SG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6EE2FFC-2914-23E6-E1D8-AAF80458D260}"/>
              </a:ext>
            </a:extLst>
          </p:cNvPr>
          <p:cNvCxnSpPr>
            <a:cxnSpLocks/>
          </p:cNvCxnSpPr>
          <p:nvPr/>
        </p:nvCxnSpPr>
        <p:spPr>
          <a:xfrm>
            <a:off x="7138033" y="2703249"/>
            <a:ext cx="19171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7B8A680-2AE3-2D95-92EA-31234A209407}"/>
              </a:ext>
            </a:extLst>
          </p:cNvPr>
          <p:cNvCxnSpPr>
            <a:cxnSpLocks/>
          </p:cNvCxnSpPr>
          <p:nvPr/>
        </p:nvCxnSpPr>
        <p:spPr>
          <a:xfrm>
            <a:off x="207838" y="2760947"/>
            <a:ext cx="21448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6AA00BF-7B50-821B-9A4E-183BDEADDEFC}"/>
              </a:ext>
            </a:extLst>
          </p:cNvPr>
          <p:cNvSpPr txBox="1"/>
          <p:nvPr/>
        </p:nvSpPr>
        <p:spPr>
          <a:xfrm>
            <a:off x="5371334" y="4282483"/>
            <a:ext cx="9265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</a:rPr>
              <a:t>Controller down</a:t>
            </a:r>
            <a:endParaRPr lang="en-SG" sz="120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F3B9CD-C452-8231-DD2E-F2B3F6159A60}"/>
              </a:ext>
            </a:extLst>
          </p:cNvPr>
          <p:cNvSpPr txBox="1"/>
          <p:nvPr/>
        </p:nvSpPr>
        <p:spPr>
          <a:xfrm>
            <a:off x="6843899" y="4298492"/>
            <a:ext cx="1052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Controller reconnect</a:t>
            </a:r>
            <a:endParaRPr lang="en-SG" sz="1200" dirty="0">
              <a:solidFill>
                <a:schemeClr val="accent6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79B113-2DB0-1E48-8B0D-C889D83B1EDB}"/>
              </a:ext>
            </a:extLst>
          </p:cNvPr>
          <p:cNvSpPr txBox="1"/>
          <p:nvPr/>
        </p:nvSpPr>
        <p:spPr>
          <a:xfrm>
            <a:off x="8708134" y="5917235"/>
            <a:ext cx="31264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* To maintain chronological records in MAIN</a:t>
            </a:r>
            <a:endParaRPr lang="en-SG" sz="12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CE74A7-AC9B-EF80-0A39-EB82CBBDAE76}"/>
              </a:ext>
            </a:extLst>
          </p:cNvPr>
          <p:cNvSpPr txBox="1"/>
          <p:nvPr/>
        </p:nvSpPr>
        <p:spPr>
          <a:xfrm>
            <a:off x="9052176" y="2938198"/>
            <a:ext cx="983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6"/>
                </a:solidFill>
              </a:rPr>
              <a:t>Scheduled recovery</a:t>
            </a:r>
            <a:endParaRPr lang="en-SG" sz="12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142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0BF4-E23C-B167-FC79-9B3836D4C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monitoring and database status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A8CDE5E-1008-A2D0-0940-B874633215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644063"/>
              </p:ext>
            </p:extLst>
          </p:nvPr>
        </p:nvGraphicFramePr>
        <p:xfrm>
          <a:off x="838200" y="1825625"/>
          <a:ext cx="10515597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226958081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670370987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518147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Activity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Frequency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843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TCP reachability probe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 seconds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ConnectionMonitorService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945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Failure threshold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consecutive failures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Avoid false disconnects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853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Controller port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52001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 controller reachability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518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Heartbeat and status refresh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minute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HomeScreen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4261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Windows sleep detection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Timer delay greater than 2 minutes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Record a possible gap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3910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Record verification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 detected file changes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DatabaseStatusService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82262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4003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10BF3-6F32-F90C-0F75-9DF658943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Configuration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2E48E-CC81-9641-E5E9-C383497CE9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9124859"/>
              </p:ext>
            </p:extLst>
          </p:nvPr>
        </p:nvGraphicFramePr>
        <p:xfrm>
          <a:off x="838200" y="1825625"/>
          <a:ext cx="10515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99560">
                  <a:extLst>
                    <a:ext uri="{9D8B030D-6E8A-4147-A177-3AD203B41FA5}">
                      <a16:colId xmlns:a16="http://schemas.microsoft.com/office/drawing/2014/main" val="889946717"/>
                    </a:ext>
                  </a:extLst>
                </a:gridCol>
                <a:gridCol w="6416040">
                  <a:extLst>
                    <a:ext uri="{9D8B030D-6E8A-4147-A177-3AD203B41FA5}">
                      <a16:colId xmlns:a16="http://schemas.microsoft.com/office/drawing/2014/main" val="41902334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Item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 or behavior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748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Backup root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Stored per controller MAC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3804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Initial backup status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INITIAL_HISTORY_BACKUP_DONE_V1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997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Recovery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G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RECOVERY_SCHEDULE_TIME_V1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284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Default recovery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03:00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162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Instant recovery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RECOVERY_MODE_INSTANT_V1</a:t>
                      </a:r>
                      <a:endParaRPr lang="en-SG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5381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Recovery metadata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&lt;root&gt;\&lt;MAC&gt;\</a:t>
                      </a:r>
                      <a:r>
                        <a:rPr lang="en-US" dirty="0" err="1"/>
                        <a:t>backup_metadata.json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799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Diagnostic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&lt;root&gt;\&lt;MAC&gt;\backup log\backup_YYYYMMDD.log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231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Structured logs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App settings; exportable as CSV to JSON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48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5148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95FCE-2DC4-58AA-3752-A27B6BFB3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Validation using DB Compare tool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FD151A-3DE3-BFE0-4D9E-084218AB2A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5001" y="2079018"/>
            <a:ext cx="4143479" cy="35936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88FE5-B241-02B7-F03A-AD3C62F8D60C}"/>
              </a:ext>
            </a:extLst>
          </p:cNvPr>
          <p:cNvSpPr txBox="1"/>
          <p:nvPr/>
        </p:nvSpPr>
        <p:spPr>
          <a:xfrm>
            <a:off x="2292095" y="3573851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dirty="0">
                <a:hlinkClick r:id="rId3"/>
              </a:rPr>
              <a:t>DB Compare Tool</a:t>
            </a:r>
            <a:endParaRPr lang="en-SG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0E2A4-5832-BD55-E3F6-C792BA47434C}"/>
              </a:ext>
            </a:extLst>
          </p:cNvPr>
          <p:cNvSpPr txBox="1"/>
          <p:nvPr/>
        </p:nvSpPr>
        <p:spPr>
          <a:xfrm>
            <a:off x="1011936" y="3589240"/>
            <a:ext cx="21534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Team folder:</a:t>
            </a:r>
            <a:endParaRPr lang="en-SG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35BB5-8F8C-986D-0090-77471011DB3A}"/>
              </a:ext>
            </a:extLst>
          </p:cNvPr>
          <p:cNvSpPr txBox="1"/>
          <p:nvPr/>
        </p:nvSpPr>
        <p:spPr>
          <a:xfrm>
            <a:off x="712556" y="2309104"/>
            <a:ext cx="52292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600" dirty="0"/>
              <a:t>Download original controller from setup tool</a:t>
            </a:r>
          </a:p>
          <a:p>
            <a:pPr marL="342900" indent="-342900">
              <a:buAutoNum type="arabicPeriod"/>
            </a:pPr>
            <a:r>
              <a:rPr lang="en-US" sz="1600" dirty="0"/>
              <a:t>Compare the original controller data and DB backup tool backup data side by side using DB compare tool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2025620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B7112A-849B-50F9-104C-47602D9469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194" y="1556818"/>
            <a:ext cx="9341142" cy="493605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BB22E48-942D-0C6E-299E-CC9B753F2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Screenshot of DB Compare Tool </a:t>
            </a:r>
            <a:endParaRPr lang="en-SG" sz="3600" dirty="0"/>
          </a:p>
        </p:txBody>
      </p:sp>
    </p:spTree>
    <p:extLst>
      <p:ext uri="{BB962C8B-B14F-4D97-AF65-F5344CB8AC3E}">
        <p14:creationId xmlns:p14="http://schemas.microsoft.com/office/powerpoint/2010/main" val="331244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2586</TotalTime>
  <Words>1148</Words>
  <Application>Microsoft Office PowerPoint</Application>
  <PresentationFormat>Widescreen</PresentationFormat>
  <Paragraphs>223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Courier New</vt:lpstr>
      <vt:lpstr>Office Theme</vt:lpstr>
      <vt:lpstr>Reiri DB Backup Tool</vt:lpstr>
      <vt:lpstr>Introduction</vt:lpstr>
      <vt:lpstr>System Overview</vt:lpstr>
      <vt:lpstr>Project purpose and scope</vt:lpstr>
      <vt:lpstr>Repositories &amp; Dependencies</vt:lpstr>
      <vt:lpstr>Application flow</vt:lpstr>
      <vt:lpstr>Backup databases</vt:lpstr>
      <vt:lpstr>Backup Folder Structure</vt:lpstr>
      <vt:lpstr>Initial Backup Method</vt:lpstr>
      <vt:lpstr>Continuous real-time backup</vt:lpstr>
      <vt:lpstr>Missing data gap detection</vt:lpstr>
      <vt:lpstr>Scenario 1</vt:lpstr>
      <vt:lpstr>Scenario 2</vt:lpstr>
      <vt:lpstr>Connection monitoring and database status</vt:lpstr>
      <vt:lpstr>Configuration</vt:lpstr>
      <vt:lpstr>DB Validation using DB Compare tool</vt:lpstr>
      <vt:lpstr>Screenshot of DB Compare Tool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 Jeng Yang</dc:creator>
  <cp:lastModifiedBy>Kong Jeng Yang</cp:lastModifiedBy>
  <cp:revision>23</cp:revision>
  <dcterms:created xsi:type="dcterms:W3CDTF">2026-07-31T08:02:25Z</dcterms:created>
  <dcterms:modified xsi:type="dcterms:W3CDTF">2026-08-03T03:38:29Z</dcterms:modified>
</cp:coreProperties>
</file>
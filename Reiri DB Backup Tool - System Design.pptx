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77" r:id="rId8"/>
    <p:sldId id="271" r:id="rId9"/>
    <p:sldId id="278" r:id="rId10"/>
    <p:sldId id="264" r:id="rId11"/>
    <p:sldId id="279" r:id="rId12"/>
    <p:sldId id="259" r:id="rId13"/>
    <p:sldId id="273" r:id="rId14"/>
    <p:sldId id="263" r:id="rId15"/>
    <p:sldId id="265" r:id="rId16"/>
    <p:sldId id="267" r:id="rId17"/>
    <p:sldId id="260" r:id="rId18"/>
    <p:sldId id="272" r:id="rId19"/>
    <p:sldId id="276" r:id="rId20"/>
    <p:sldId id="262" r:id="rId21"/>
    <p:sldId id="261" r:id="rId22"/>
    <p:sldId id="268" r:id="rId23"/>
    <p:sldId id="269" r:id="rId24"/>
    <p:sldId id="27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/>
    <p:restoredTop sz="94626"/>
  </p:normalViewPr>
  <p:slideViewPr>
    <p:cSldViewPr snapToGrid="0">
      <p:cViewPr varScale="1">
        <p:scale>
          <a:sx n="105" d="100"/>
          <a:sy n="105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B966-EB74-EC49-2DE8-4CB6FF8E4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613F9-D021-9861-D108-CFD3D9651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86A7B-65CE-A023-7453-B3321108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913DF-A978-6F85-0158-4EE6F26A1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E0EC-CC2E-E1EE-8129-B421C3BB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7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7A81-ECB4-A344-450B-CFBCD886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D8CB-34BA-60A7-D47A-06E011FA6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419C9-353E-3EEA-0B17-7DA3DA82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83073-9117-C6CC-19A8-4CB79155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34BA8-2DCF-3939-AB50-F9B5C7FB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3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6FD1-8F86-0D87-7564-F218298F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7E3B2-1741-8CB8-1600-3C36356E7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0774D-151E-2A13-23AD-3718F3D0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DA7B8-E6F8-2BBF-6058-0F651DA0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FFC9-E2C9-6B13-327B-642B669C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7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12E8-03E2-B31D-3123-1D05FB16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61AD6-A4AC-1F8B-8B72-CE2C7A8D6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B7AAB-8122-8E7B-447F-1E5308734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59B04-37B4-31AD-38E9-E562ACB95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804D2-D35C-0E90-E443-F4BEF109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35639-EDE5-C6FA-C057-204987E2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2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5CC9-4B0C-73A5-47D7-8C0245D8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74D09-9960-CCE9-C1CC-AAC17C7C6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A2CFE-4F60-A5D4-B7C5-627E8EAC8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1856F1-A16E-E548-38AC-76FA2FA9D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714286-782C-D659-5555-4C12CE975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3EAB8-4254-80FC-EE99-ABBDFD36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3CC9A3-2448-0DAF-0216-184C8B1B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3D6FB-772D-816B-82B0-F475A233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CD5A-FECD-93AA-E8A5-66D2E8E5E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B30E2-581A-39DA-766D-F6CF026D0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32C28-599B-ED5F-CDDA-80E29BD1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46F73-55D6-398E-EEBF-00254923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9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64B06-5EAE-8335-B151-EE84492C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3828A-3573-0537-C3BA-2629F5E8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B9BCF-2680-509F-7133-EFBD8355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3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9193C-7A9E-3B76-1B81-5D351C79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0B0B4-56BE-CE85-B5BA-28D633B2C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573FE-EC11-590B-1860-4FAE9092E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20BB2-65E0-2AAD-93EC-D4C8493E7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826D5-8F81-D882-C2D3-4D55F4AB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375AB-7D5B-0666-F428-DCCB7E4E9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2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0A19-00FA-D0D7-E678-4A63AEFE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A5744-D87F-2998-D468-676033004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63A99-4D24-1790-8E85-6D4047F46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83156-A837-EFFF-6045-8C5BC7C7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16951-4C05-C76F-CEDD-43AEE49C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5F8DF-786D-20E6-9888-B5CEF5F3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50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9314-77B7-1DEA-007E-510CAD9B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5C839-2897-CEFC-7A46-828C5A1F1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B1D30-AFB9-A802-FDCA-28BB8FD9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DB3C5-3B2F-ECE8-EA9A-47D9A394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7FE3D-7C70-F342-4DE0-65DE21F6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1D4757-E9D1-2E11-BDCA-BC3047F61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E1AE1-9166-F4E8-C0E0-1FDE13AAD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BCFDE-43C7-8E91-BA1A-C6B51C12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B4E15-F49F-D976-A577-870322DF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C6317-30E4-1BDF-F92C-ABAC443B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74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D677AB-89D9-33B0-9F07-306A81CA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53F5F-6C61-19E8-36F3-E9F345317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346F8-87D5-7570-CB4D-BFA41BE3C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09191-4334-1F47-BEDE-1ACAF3EAB15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DF6DF-8C0D-5978-1E51-A04D8EF72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D89A3-74AF-74B5-1EAD-BA081EDF2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665DF-7BFD-994C-B12F-75313BD62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7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9DCD-141E-2B7C-A125-F22E34F1E9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Reiri DB Backup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930C1-E34B-AF06-B571-B67F50D1A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408263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E931-2A08-7084-D5AC-DEDF668B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document covers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9DBC9-D641-2B74-8782-B95131A38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1. Introduction</a:t>
            </a:r>
          </a:p>
          <a:p>
            <a:pPr marL="0" indent="0">
              <a:buNone/>
            </a:pPr>
            <a:r>
              <a:rPr lang="en-US" dirty="0"/>
              <a:t>2. System Overview</a:t>
            </a:r>
          </a:p>
          <a:p>
            <a:pPr marL="0" indent="0">
              <a:buNone/>
            </a:pPr>
            <a:r>
              <a:rPr lang="en-US" dirty="0"/>
              <a:t>3. Why Two Backup Methods?</a:t>
            </a:r>
          </a:p>
          <a:p>
            <a:pPr marL="0" indent="0">
              <a:buNone/>
            </a:pPr>
            <a:r>
              <a:rPr lang="en-US" dirty="0"/>
              <a:t>4. Backup Methods Explained</a:t>
            </a:r>
          </a:p>
          <a:p>
            <a:pPr marL="0" indent="0">
              <a:buNone/>
            </a:pPr>
            <a:r>
              <a:rPr lang="en-US" dirty="0"/>
              <a:t>5. Application Lifecycle</a:t>
            </a:r>
          </a:p>
          <a:p>
            <a:pPr marL="0" indent="0">
              <a:buNone/>
            </a:pPr>
            <a:r>
              <a:rPr lang="en-US" dirty="0"/>
              <a:t>6. Backup System Design (Core Logic)</a:t>
            </a:r>
          </a:p>
          <a:p>
            <a:pPr marL="0" indent="0">
              <a:buNone/>
            </a:pPr>
            <a:r>
              <a:rPr lang="en-US" dirty="0"/>
              <a:t>7. Decision Flow After Connection</a:t>
            </a:r>
          </a:p>
          <a:p>
            <a:pPr marL="0" indent="0">
              <a:buNone/>
            </a:pPr>
            <a:r>
              <a:rPr lang="en-US" dirty="0"/>
              <a:t>8. Design Alternative: Sort-based Approach</a:t>
            </a:r>
          </a:p>
          <a:p>
            <a:pPr marL="0" indent="0">
              <a:buNone/>
            </a:pPr>
            <a:r>
              <a:rPr lang="en-US" dirty="0"/>
              <a:t>9. Initial Setup &amp; Ongoing Backup Phases</a:t>
            </a:r>
          </a:p>
          <a:p>
            <a:pPr marL="0" indent="0">
              <a:buNone/>
            </a:pPr>
            <a:r>
              <a:rPr lang="en-US" dirty="0"/>
              <a:t>10. Missed-Data Detection</a:t>
            </a:r>
          </a:p>
          <a:p>
            <a:pPr marL="0" indent="0">
              <a:buNone/>
            </a:pPr>
            <a:r>
              <a:rPr lang="en-US" dirty="0"/>
              <a:t>11. Regular Backup: Chunked Requests</a:t>
            </a:r>
          </a:p>
          <a:p>
            <a:pPr marL="0" indent="0">
              <a:buNone/>
            </a:pPr>
            <a:r>
              <a:rPr lang="en-US" dirty="0"/>
              <a:t>12. Scenario Summary</a:t>
            </a:r>
          </a:p>
          <a:p>
            <a:pPr marL="0" indent="0">
              <a:buNone/>
            </a:pPr>
            <a:r>
              <a:rPr lang="en-US" dirty="0"/>
              <a:t>13. Edge Cases &amp; Handling</a:t>
            </a:r>
          </a:p>
          <a:p>
            <a:pPr marL="0" indent="0">
              <a:buNone/>
            </a:pPr>
            <a:r>
              <a:rPr lang="en-US" dirty="0"/>
              <a:t>14. State Persistence</a:t>
            </a:r>
          </a:p>
        </p:txBody>
      </p:sp>
    </p:spTree>
    <p:extLst>
      <p:ext uri="{BB962C8B-B14F-4D97-AF65-F5344CB8AC3E}">
        <p14:creationId xmlns:p14="http://schemas.microsoft.com/office/powerpoint/2010/main" val="118706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CB4D-5540-D29F-948C-15E1DC35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29987-4C15-6024-4AFC-BFD76E6BE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r>
              <a:rPr lang="en-US" sz="1400" dirty="0"/>
              <a:t>The Reiri DB Backup Tool is a Windows desktop application that continuously backs up operational data from Reiri HVAC controllers to a local PC database.</a:t>
            </a:r>
          </a:p>
          <a:p>
            <a:pPr>
              <a:defRPr sz="1400"/>
            </a:pPr>
            <a:endParaRPr lang="en-US" sz="1400" dirty="0"/>
          </a:p>
          <a:p>
            <a:pPr>
              <a:defRPr sz="1400"/>
            </a:pPr>
            <a:r>
              <a:rPr lang="en-US" sz="1400" dirty="0"/>
              <a:t>Purpose: </a:t>
            </a:r>
          </a:p>
          <a:p>
            <a:pPr lvl="1">
              <a:defRPr sz="1400"/>
            </a:pPr>
            <a:r>
              <a:rPr lang="en-US" sz="1400" dirty="0"/>
              <a:t>Protect critical time-series data (history, meter, optime, trend, PPD) against data loss on the controller by maintaining an up-to-date local copy.</a:t>
            </a:r>
            <a:br>
              <a:rPr lang="en-US" sz="1400" dirty="0"/>
            </a:br>
            <a:endParaRPr lang="en-US" sz="1400" dirty="0"/>
          </a:p>
          <a:p>
            <a:pPr>
              <a:defRPr sz="1400"/>
            </a:pPr>
            <a:r>
              <a:rPr lang="en-US" sz="1400" dirty="0"/>
              <a:t>How it works(high level):</a:t>
            </a:r>
          </a:p>
          <a:p>
            <a:pPr lvl="1">
              <a:defRPr sz="1400"/>
            </a:pPr>
            <a:r>
              <a:rPr lang="en-US" sz="1400" dirty="0"/>
              <a:t>The app runs 24/7 on a Windows PC in the background.</a:t>
            </a:r>
          </a:p>
          <a:p>
            <a:pPr lvl="1">
              <a:defRPr sz="1400"/>
            </a:pPr>
            <a:r>
              <a:rPr lang="en-US" sz="1400" dirty="0"/>
              <a:t>It connects to Reiri controller over the network (LAN or cloud).</a:t>
            </a:r>
          </a:p>
          <a:p>
            <a:pPr lvl="1">
              <a:defRPr sz="1400"/>
            </a:pPr>
            <a:r>
              <a:rPr lang="en-US" sz="1400" dirty="0"/>
              <a:t>It copies new database records from the controller to local SQLite files on the PC.</a:t>
            </a:r>
          </a:p>
          <a:p>
            <a:pPr lvl="1">
              <a:defRPr sz="1400"/>
            </a:pPr>
            <a:r>
              <a:rPr lang="en-US" sz="1400" dirty="0"/>
              <a:t>The backed-up files are directly restorable via the Reiri Setup Tool.</a:t>
            </a:r>
          </a:p>
          <a:p>
            <a:pPr lvl="1">
              <a:defRPr sz="1400"/>
            </a:pPr>
            <a:endParaRPr lang="en-US" sz="1400" dirty="0"/>
          </a:p>
          <a:p>
            <a:r>
              <a:rPr lang="en-US" sz="1400" dirty="0"/>
              <a:t>Target platform: Windows 10/11, built with flutter</a:t>
            </a:r>
          </a:p>
        </p:txBody>
      </p:sp>
    </p:spTree>
    <p:extLst>
      <p:ext uri="{BB962C8B-B14F-4D97-AF65-F5344CB8AC3E}">
        <p14:creationId xmlns:p14="http://schemas.microsoft.com/office/powerpoint/2010/main" val="88442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77EF-AAD9-4449-AE1A-E18FA3F8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2CD8-13CB-85FB-1322-EE711683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5497-0C0F-72C5-60CC-336E11818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16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The system has three main components:</a:t>
            </a:r>
            <a:br>
              <a:rPr lang="en-US" sz="1400" dirty="0"/>
            </a:br>
            <a:endParaRPr lang="en-US" sz="1400" dirty="0"/>
          </a:p>
          <a:p>
            <a:pPr>
              <a:defRPr sz="1400"/>
            </a:pPr>
            <a:r>
              <a:rPr lang="en-US" b="1" dirty="0"/>
              <a:t>Reiri Controller </a:t>
            </a:r>
            <a:r>
              <a:rPr lang="en-US" dirty="0"/>
              <a:t>— the source of data</a:t>
            </a:r>
          </a:p>
          <a:p>
            <a:pPr lvl="1">
              <a:defRPr sz="1400"/>
            </a:pPr>
            <a:r>
              <a:rPr lang="en-US" dirty="0"/>
              <a:t>Stores operational data in 5 SQLite databases: history, meter, optime, trend, ppd.</a:t>
            </a:r>
            <a:br>
              <a:rPr lang="en-US" dirty="0"/>
            </a:br>
            <a:endParaRPr lang="en-US" dirty="0"/>
          </a:p>
          <a:p>
            <a:pPr>
              <a:defRPr sz="1400"/>
            </a:pPr>
            <a:r>
              <a:rPr lang="en-US" b="1" dirty="0"/>
              <a:t>Reiri DB Backup Tool </a:t>
            </a:r>
            <a:r>
              <a:rPr lang="en-US" dirty="0"/>
              <a:t>— this application</a:t>
            </a:r>
          </a:p>
          <a:p>
            <a:pPr lvl="1">
              <a:defRPr sz="1400"/>
            </a:pPr>
            <a:r>
              <a:rPr lang="en-US" dirty="0"/>
              <a:t>Runs continuously on a Windows PC.</a:t>
            </a:r>
          </a:p>
          <a:p>
            <a:pPr lvl="1">
              <a:defRPr sz="1400"/>
            </a:pPr>
            <a:r>
              <a:rPr lang="en-US" dirty="0"/>
              <a:t>Connects to the controller via WebSocket (LAN or cloud).</a:t>
            </a:r>
          </a:p>
          <a:p>
            <a:pPr lvl="1">
              <a:defRPr sz="1400"/>
            </a:pPr>
            <a:r>
              <a:rPr lang="en-US" dirty="0"/>
              <a:t>Pulls and/or receives data, writes it to a local copy of the databases.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lang="en-US" b="1" dirty="0"/>
              <a:t>Local PC Storage </a:t>
            </a:r>
            <a:r>
              <a:rPr lang="en-US" dirty="0"/>
              <a:t>— the backup destination</a:t>
            </a:r>
          </a:p>
          <a:p>
            <a:pPr lvl="1">
              <a:defRPr sz="1400"/>
            </a:pPr>
            <a:r>
              <a:rPr lang="en-US" dirty="0"/>
              <a:t>Stores local copies of all database files in a user-configured folder.</a:t>
            </a:r>
          </a:p>
          <a:p>
            <a:pPr lvl="1">
              <a:defRPr sz="1400"/>
            </a:pPr>
            <a:r>
              <a:rPr lang="en-US" dirty="0"/>
              <a:t>Maintains metadata (last backup timestamps, state) in a JSON file.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E816F0-DB6C-1A0F-FBFE-F365BF9AF722}"/>
              </a:ext>
            </a:extLst>
          </p:cNvPr>
          <p:cNvSpPr/>
          <p:nvPr/>
        </p:nvSpPr>
        <p:spPr>
          <a:xfrm>
            <a:off x="9540607" y="1825625"/>
            <a:ext cx="1487277" cy="7302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79A2F-C542-0FD8-6DBC-EF84EF75338C}"/>
              </a:ext>
            </a:extLst>
          </p:cNvPr>
          <p:cNvSpPr txBox="1"/>
          <p:nvPr/>
        </p:nvSpPr>
        <p:spPr>
          <a:xfrm>
            <a:off x="9697309" y="2006103"/>
            <a:ext cx="119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47B5A05-88DC-24C4-EFCE-2CBED8CB8CD7}"/>
              </a:ext>
            </a:extLst>
          </p:cNvPr>
          <p:cNvSpPr/>
          <p:nvPr/>
        </p:nvSpPr>
        <p:spPr>
          <a:xfrm>
            <a:off x="9184803" y="3683897"/>
            <a:ext cx="2382824" cy="7302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540564-96FE-DF45-7C92-92FBD27671B3}"/>
              </a:ext>
            </a:extLst>
          </p:cNvPr>
          <p:cNvSpPr txBox="1"/>
          <p:nvPr/>
        </p:nvSpPr>
        <p:spPr>
          <a:xfrm>
            <a:off x="9341505" y="3950426"/>
            <a:ext cx="222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Reiri DB Backup Tool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D0C684-7CBF-82DC-D2EA-0F0D2EE04D7C}"/>
              </a:ext>
            </a:extLst>
          </p:cNvPr>
          <p:cNvSpPr/>
          <p:nvPr/>
        </p:nvSpPr>
        <p:spPr>
          <a:xfrm>
            <a:off x="9439516" y="5505619"/>
            <a:ext cx="2030100" cy="7302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AD6213-7D16-F3AC-09D6-1D2EFF007AAB}"/>
              </a:ext>
            </a:extLst>
          </p:cNvPr>
          <p:cNvSpPr txBox="1"/>
          <p:nvPr/>
        </p:nvSpPr>
        <p:spPr>
          <a:xfrm>
            <a:off x="9596218" y="5686097"/>
            <a:ext cx="1873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PC Storage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ED33FD-1154-23E4-BE16-B8231CC9725F}"/>
              </a:ext>
            </a:extLst>
          </p:cNvPr>
          <p:cNvCxnSpPr>
            <a:cxnSpLocks/>
          </p:cNvCxnSpPr>
          <p:nvPr/>
        </p:nvCxnSpPr>
        <p:spPr>
          <a:xfrm flipV="1">
            <a:off x="9816029" y="2555913"/>
            <a:ext cx="0" cy="1127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DB07C8-F7E2-1889-24E9-3957CB2C4365}"/>
              </a:ext>
            </a:extLst>
          </p:cNvPr>
          <p:cNvCxnSpPr>
            <a:cxnSpLocks/>
          </p:cNvCxnSpPr>
          <p:nvPr/>
        </p:nvCxnSpPr>
        <p:spPr>
          <a:xfrm>
            <a:off x="10691022" y="2555913"/>
            <a:ext cx="0" cy="1127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3786E7-4E1B-16F0-571F-DEEA1FB02720}"/>
              </a:ext>
            </a:extLst>
          </p:cNvPr>
          <p:cNvSpPr txBox="1"/>
          <p:nvPr/>
        </p:nvSpPr>
        <p:spPr>
          <a:xfrm>
            <a:off x="10691022" y="3020213"/>
            <a:ext cx="966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Send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3853B8-2DDE-6E83-84F6-A8A4AE56063E}"/>
              </a:ext>
            </a:extLst>
          </p:cNvPr>
          <p:cNvSpPr txBox="1"/>
          <p:nvPr/>
        </p:nvSpPr>
        <p:spPr>
          <a:xfrm>
            <a:off x="8568075" y="3020214"/>
            <a:ext cx="1213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Request data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4F2E33D-E9C2-03DB-04D1-B83FD80C6994}"/>
              </a:ext>
            </a:extLst>
          </p:cNvPr>
          <p:cNvCxnSpPr>
            <a:cxnSpLocks/>
          </p:cNvCxnSpPr>
          <p:nvPr/>
        </p:nvCxnSpPr>
        <p:spPr>
          <a:xfrm>
            <a:off x="10096821" y="4422561"/>
            <a:ext cx="0" cy="1127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B82068-78F8-9011-AFEA-7696B6B39109}"/>
              </a:ext>
            </a:extLst>
          </p:cNvPr>
          <p:cNvSpPr txBox="1"/>
          <p:nvPr/>
        </p:nvSpPr>
        <p:spPr>
          <a:xfrm>
            <a:off x="10165397" y="4797699"/>
            <a:ext cx="1873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Send data for backup</a:t>
            </a:r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436D2565-60C0-CC59-29D3-76E81D369112}"/>
              </a:ext>
            </a:extLst>
          </p:cNvPr>
          <p:cNvCxnSpPr>
            <a:stCxn id="12" idx="1"/>
            <a:endCxn id="6" idx="1"/>
          </p:cNvCxnSpPr>
          <p:nvPr/>
        </p:nvCxnSpPr>
        <p:spPr>
          <a:xfrm rot="10800000" flipH="1">
            <a:off x="9439515" y="2190769"/>
            <a:ext cx="101091" cy="3679994"/>
          </a:xfrm>
          <a:prstGeom prst="curvedConnector3">
            <a:avLst>
              <a:gd name="adj1" fmla="val -14685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70F5D93-B935-B257-BC0E-15382FFEE63C}"/>
              </a:ext>
            </a:extLst>
          </p:cNvPr>
          <p:cNvSpPr txBox="1"/>
          <p:nvPr/>
        </p:nvSpPr>
        <p:spPr>
          <a:xfrm>
            <a:off x="7522718" y="5788680"/>
            <a:ext cx="1751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Restore data if data loss in controller</a:t>
            </a:r>
          </a:p>
        </p:txBody>
      </p:sp>
    </p:spTree>
    <p:extLst>
      <p:ext uri="{BB962C8B-B14F-4D97-AF65-F5344CB8AC3E}">
        <p14:creationId xmlns:p14="http://schemas.microsoft.com/office/powerpoint/2010/main" val="3885021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2548-DEF4-D437-F0B5-06B1FEDB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163178"/>
            <a:ext cx="10515600" cy="1325563"/>
          </a:xfrm>
        </p:spPr>
        <p:txBody>
          <a:bodyPr/>
          <a:lstStyle/>
          <a:p>
            <a:r>
              <a:rPr lang="en-US" dirty="0"/>
              <a:t>Backup Methods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31CFC-3F28-D390-D5E4-627191849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053" y="1488740"/>
            <a:ext cx="11148152" cy="5206081"/>
          </a:xfrm>
        </p:spPr>
        <p:txBody>
          <a:bodyPr>
            <a:noAutofit/>
          </a:bodyPr>
          <a:lstStyle/>
          <a:p>
            <a:pPr>
              <a:defRPr sz="1400"/>
            </a:pPr>
            <a:r>
              <a:rPr lang="en-US" sz="1400" dirty="0"/>
              <a:t>Background: Controller Load Sensitivity</a:t>
            </a:r>
          </a:p>
          <a:p>
            <a:pPr lvl="1">
              <a:defRPr sz="1400"/>
            </a:pPr>
            <a:r>
              <a:rPr lang="en-US" sz="1400" dirty="0"/>
              <a:t>The Reiri controller is a resource-constrained embedded device.</a:t>
            </a:r>
          </a:p>
          <a:p>
            <a:pPr lvl="1">
              <a:defRPr sz="1400"/>
            </a:pPr>
            <a:r>
              <a:rPr lang="en-US" sz="1400" dirty="0"/>
              <a:t>Reading large volumes of historical data puts significant load on the controller.</a:t>
            </a:r>
          </a:p>
          <a:p>
            <a:pPr lvl="1">
              <a:defRPr sz="1400"/>
            </a:pPr>
            <a:r>
              <a:rPr lang="en-US" sz="1400" dirty="0"/>
              <a:t>This can degrade the controller's primary functions (HVAC control, scheduling, monitoring).</a:t>
            </a:r>
          </a:p>
          <a:p>
            <a:pPr>
              <a:defRPr sz="1400"/>
            </a:pPr>
            <a:r>
              <a:rPr lang="en-US" sz="1400" dirty="0"/>
              <a:t>The solution: minimize how much data we request from the controller.</a:t>
            </a:r>
          </a:p>
          <a:p>
            <a:pPr>
              <a:defRPr sz="1400"/>
            </a:pPr>
            <a:endParaRPr lang="en-US" sz="1400" dirty="0"/>
          </a:p>
          <a:p>
            <a:pPr marL="342900" indent="-342900">
              <a:buFont typeface="+mj-lt"/>
              <a:buAutoNum type="arabicPeriod"/>
              <a:defRPr sz="1400"/>
            </a:pPr>
            <a:r>
              <a:rPr lang="en-US" sz="1400" b="1" dirty="0"/>
              <a:t>Real-time Backup </a:t>
            </a:r>
            <a:r>
              <a:rPr lang="en-US" sz="1400" dirty="0"/>
              <a:t>(push-based):</a:t>
            </a:r>
          </a:p>
          <a:p>
            <a:pPr lvl="1">
              <a:defRPr sz="1400"/>
            </a:pPr>
            <a:r>
              <a:rPr lang="en-US" sz="1400" dirty="0"/>
              <a:t>The controller </a:t>
            </a:r>
            <a:r>
              <a:rPr lang="en-US" sz="1400" b="1" dirty="0"/>
              <a:t>pushes each new record to the backup tool as it is written</a:t>
            </a:r>
            <a:r>
              <a:rPr lang="en-US" sz="1400" dirty="0"/>
              <a:t>.</a:t>
            </a:r>
          </a:p>
          <a:p>
            <a:pPr lvl="1">
              <a:defRPr sz="1400"/>
            </a:pPr>
            <a:r>
              <a:rPr lang="en-US" sz="1400" dirty="0"/>
              <a:t>Very low controller load — data is sent once, immediately, in small packets.</a:t>
            </a:r>
          </a:p>
          <a:p>
            <a:pPr lvl="1">
              <a:defRPr sz="1400"/>
            </a:pPr>
            <a:r>
              <a:rPr lang="en-US" sz="1400" dirty="0"/>
              <a:t>Limitation: only works while the app is connected.</a:t>
            </a:r>
          </a:p>
          <a:p>
            <a:pPr>
              <a:defRPr sz="1400"/>
            </a:pPr>
            <a:endParaRPr lang="en-US" sz="1400" dirty="0"/>
          </a:p>
          <a:p>
            <a:pPr marL="342900" indent="-342900">
              <a:buFont typeface="+mj-lt"/>
              <a:buAutoNum type="arabicPeriod" startAt="2"/>
              <a:defRPr sz="1400"/>
            </a:pPr>
            <a:r>
              <a:rPr lang="en-US" sz="1400" b="1" dirty="0"/>
              <a:t>Regular Backup</a:t>
            </a:r>
            <a:r>
              <a:rPr lang="en-US" sz="1400" dirty="0"/>
              <a:t> (pull-based):</a:t>
            </a:r>
          </a:p>
          <a:p>
            <a:pPr lvl="1">
              <a:defRPr sz="1400"/>
            </a:pPr>
            <a:r>
              <a:rPr lang="en-US" sz="1400" dirty="0"/>
              <a:t>The backup tool </a:t>
            </a:r>
            <a:r>
              <a:rPr lang="en-US" sz="1400" b="1" dirty="0"/>
              <a:t>requests historical records for a specific time range</a:t>
            </a:r>
            <a:r>
              <a:rPr lang="en-US" sz="1400" dirty="0"/>
              <a:t>.</a:t>
            </a:r>
          </a:p>
          <a:p>
            <a:pPr lvl="1">
              <a:defRPr sz="1400"/>
            </a:pPr>
            <a:r>
              <a:rPr lang="en-US" sz="1400" dirty="0"/>
              <a:t>Required to fill gaps when the app was disconnected.</a:t>
            </a:r>
          </a:p>
          <a:p>
            <a:pPr lvl="1">
              <a:defRPr sz="1400"/>
            </a:pPr>
            <a:r>
              <a:rPr lang="en-US" sz="1400" dirty="0"/>
              <a:t>Higher controller load — scheduled during off-peak hours (midnight) to minimize impact.</a:t>
            </a:r>
          </a:p>
          <a:p>
            <a:pPr>
              <a:defRPr sz="1400"/>
            </a:pPr>
            <a:endParaRPr lang="en-US" sz="1400" dirty="0"/>
          </a:p>
          <a:p>
            <a:pPr>
              <a:defRPr sz="1400"/>
            </a:pPr>
            <a:r>
              <a:rPr lang="en-US" sz="1400" dirty="0"/>
              <a:t>Both methods work together to ensure complete backup coverage with </a:t>
            </a:r>
            <a:r>
              <a:rPr lang="en-US" sz="1400" b="1" dirty="0"/>
              <a:t>minimal controller impact.</a:t>
            </a:r>
          </a:p>
        </p:txBody>
      </p:sp>
    </p:spTree>
    <p:extLst>
      <p:ext uri="{BB962C8B-B14F-4D97-AF65-F5344CB8AC3E}">
        <p14:creationId xmlns:p14="http://schemas.microsoft.com/office/powerpoint/2010/main" val="2462088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A7CB9-B36A-AED2-CFFD-3C9278A5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C0C7-D14B-1103-A227-3948D19C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methods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41FB7-B820-F9CA-36B5-9762E3642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8152" cy="435133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  <a:defRPr sz="1400"/>
            </a:pPr>
            <a:r>
              <a:rPr lang="en-US" b="1" dirty="0"/>
              <a:t>Regular Backup (Pull)</a:t>
            </a:r>
          </a:p>
          <a:p>
            <a:pPr lvl="1">
              <a:defRPr sz="1400"/>
            </a:pPr>
            <a:r>
              <a:rPr lang="en-US" dirty="0"/>
              <a:t>Backup Tool sends a request: 'Give me records from time A to time B.'</a:t>
            </a:r>
          </a:p>
          <a:p>
            <a:pPr lvl="1">
              <a:defRPr sz="1400"/>
            </a:pPr>
            <a:r>
              <a:rPr lang="en-US" dirty="0"/>
              <a:t>Controller reads its SQLite database for the requested range.</a:t>
            </a:r>
          </a:p>
          <a:p>
            <a:pPr lvl="1">
              <a:defRPr sz="1400"/>
            </a:pPr>
            <a:r>
              <a:rPr lang="en-US" dirty="0"/>
              <a:t>Controller sends the records back as a JSON payload over WebSocket.</a:t>
            </a:r>
          </a:p>
          <a:p>
            <a:pPr lvl="1">
              <a:defRPr sz="1400"/>
            </a:pPr>
            <a:r>
              <a:rPr lang="en-US" dirty="0"/>
              <a:t>Backup Tool writes the received records to the local database.</a:t>
            </a:r>
          </a:p>
          <a:p>
            <a:pPr>
              <a:defRPr sz="1400"/>
            </a:pPr>
            <a:endParaRPr lang="en-US" dirty="0"/>
          </a:p>
          <a:p>
            <a:pPr marL="342900" indent="-342900">
              <a:buFont typeface="+mj-lt"/>
              <a:buAutoNum type="arabicPeriod" startAt="2"/>
              <a:defRPr sz="1400"/>
            </a:pPr>
            <a:r>
              <a:rPr lang="en-US" b="1" dirty="0"/>
              <a:t>Real-time Backup (Push)</a:t>
            </a:r>
          </a:p>
          <a:p>
            <a:pPr lvl="1">
              <a:defRPr sz="1400"/>
            </a:pPr>
            <a:r>
              <a:rPr lang="en-US" dirty="0"/>
              <a:t>Controller writes a new record to its SQLite database.</a:t>
            </a:r>
          </a:p>
          <a:p>
            <a:pPr lvl="1">
              <a:defRPr sz="1400"/>
            </a:pPr>
            <a:r>
              <a:rPr lang="en-US" dirty="0"/>
              <a:t>Controller immediately sends a 'DB write event' to the connected backup tool.</a:t>
            </a:r>
          </a:p>
          <a:p>
            <a:pPr lvl="1">
              <a:defRPr sz="1400"/>
            </a:pPr>
            <a:r>
              <a:rPr lang="en-US" dirty="0"/>
              <a:t>Backup Tool receives the event and writes the record to the local database.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lang="en-US" dirty="0"/>
              <a:t>Key constraint: </a:t>
            </a:r>
            <a:r>
              <a:rPr lang="en-US" b="1" dirty="0"/>
              <a:t>Strict chronological ordering</a:t>
            </a:r>
          </a:p>
          <a:p>
            <a:pPr lvl="1">
              <a:defRPr sz="1400"/>
            </a:pPr>
            <a:r>
              <a:rPr lang="en-US" dirty="0"/>
              <a:t>The local database must maintain strict timestamp ordering.</a:t>
            </a:r>
          </a:p>
          <a:p>
            <a:pPr lvl="1">
              <a:defRPr sz="1400"/>
            </a:pPr>
            <a:r>
              <a:rPr lang="en-US" dirty="0"/>
              <a:t>New data cannot be inserted before older data.</a:t>
            </a:r>
          </a:p>
          <a:p>
            <a:pPr lvl="1">
              <a:defRPr sz="1400"/>
            </a:pPr>
            <a:r>
              <a:rPr lang="en-US" dirty="0"/>
              <a:t>This constraint drives much of the system design (TEMP DB, flush sequencing).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9126BD-9519-7777-2F78-CD9C3BA8288A}"/>
              </a:ext>
            </a:extLst>
          </p:cNvPr>
          <p:cNvGrpSpPr/>
          <p:nvPr/>
        </p:nvGrpSpPr>
        <p:grpSpPr>
          <a:xfrm>
            <a:off x="8381250" y="1398619"/>
            <a:ext cx="3210595" cy="1931029"/>
            <a:chOff x="931068" y="2289954"/>
            <a:chExt cx="3797708" cy="24553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E8D0A8-1CF2-BB44-B79A-138CECA49C82}"/>
                </a:ext>
              </a:extLst>
            </p:cNvPr>
            <p:cNvSpPr/>
            <p:nvPr/>
          </p:nvSpPr>
          <p:spPr>
            <a:xfrm>
              <a:off x="931068" y="2775215"/>
              <a:ext cx="1536700" cy="1880835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603B07FE-2706-8335-C0D2-E454483EE845}"/>
                </a:ext>
              </a:extLst>
            </p:cNvPr>
            <p:cNvSpPr/>
            <p:nvPr/>
          </p:nvSpPr>
          <p:spPr>
            <a:xfrm>
              <a:off x="1293018" y="3675495"/>
              <a:ext cx="939800" cy="640310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EB8E7D-BAA0-57C3-5F9B-626D59BD5025}"/>
                </a:ext>
              </a:extLst>
            </p:cNvPr>
            <p:cNvSpPr/>
            <p:nvPr/>
          </p:nvSpPr>
          <p:spPr>
            <a:xfrm>
              <a:off x="3191668" y="2775215"/>
              <a:ext cx="1536700" cy="1880835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C3FFA4C2-70CA-DE30-6FF9-7A3DC7A7DCD3}"/>
                </a:ext>
              </a:extLst>
            </p:cNvPr>
            <p:cNvSpPr/>
            <p:nvPr/>
          </p:nvSpPr>
          <p:spPr>
            <a:xfrm>
              <a:off x="3426618" y="3675495"/>
              <a:ext cx="939800" cy="640310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45BB5C-5FF0-6219-83D9-02E04CEF7D35}"/>
                </a:ext>
              </a:extLst>
            </p:cNvPr>
            <p:cNvSpPr txBox="1"/>
            <p:nvPr/>
          </p:nvSpPr>
          <p:spPr>
            <a:xfrm>
              <a:off x="1229518" y="4394660"/>
              <a:ext cx="950345" cy="332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Controller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A081D40-9D12-FC05-C942-880444D9C6BF}"/>
                </a:ext>
              </a:extLst>
            </p:cNvPr>
            <p:cNvSpPr txBox="1"/>
            <p:nvPr/>
          </p:nvSpPr>
          <p:spPr>
            <a:xfrm>
              <a:off x="3689570" y="4412670"/>
              <a:ext cx="430803" cy="332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PC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60AD03E-86AE-4747-6FED-37BFFC830221}"/>
                </a:ext>
              </a:extLst>
            </p:cNvPr>
            <p:cNvCxnSpPr>
              <a:cxnSpLocks/>
              <a:stCxn id="6" idx="1"/>
              <a:endCxn id="15" idx="2"/>
            </p:cNvCxnSpPr>
            <p:nvPr/>
          </p:nvCxnSpPr>
          <p:spPr>
            <a:xfrm flipV="1">
              <a:off x="1762918" y="3239499"/>
              <a:ext cx="295275" cy="4359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8FA812-8C84-FDAD-FEC2-52868D5A1EF7}"/>
                </a:ext>
              </a:extLst>
            </p:cNvPr>
            <p:cNvSpPr txBox="1"/>
            <p:nvPr/>
          </p:nvSpPr>
          <p:spPr>
            <a:xfrm>
              <a:off x="954520" y="3237024"/>
              <a:ext cx="946553" cy="332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Read data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438BC9F-C9BA-4B3B-3621-021B86E50727}"/>
                </a:ext>
              </a:extLst>
            </p:cNvPr>
            <p:cNvSpPr txBox="1"/>
            <p:nvPr/>
          </p:nvSpPr>
          <p:spPr>
            <a:xfrm>
              <a:off x="3767054" y="3368435"/>
              <a:ext cx="961722" cy="332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 dirty="0"/>
                <a:t>Write data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BDCF902-9CAC-1C76-B038-AAB23B1FAB5C}"/>
                </a:ext>
              </a:extLst>
            </p:cNvPr>
            <p:cNvCxnSpPr>
              <a:cxnSpLocks/>
              <a:stCxn id="16" idx="2"/>
              <a:endCxn id="8" idx="1"/>
            </p:cNvCxnSpPr>
            <p:nvPr/>
          </p:nvCxnSpPr>
          <p:spPr>
            <a:xfrm>
              <a:off x="3620293" y="3239499"/>
              <a:ext cx="276225" cy="4359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lowchart: Card 16">
              <a:extLst>
                <a:ext uri="{FF2B5EF4-FFF2-40B4-BE49-F238E27FC236}">
                  <a16:creationId xmlns:a16="http://schemas.microsoft.com/office/drawing/2014/main" id="{06AC5178-E23C-F8AE-347D-1F24535C3538}"/>
                </a:ext>
              </a:extLst>
            </p:cNvPr>
            <p:cNvSpPr/>
            <p:nvPr/>
          </p:nvSpPr>
          <p:spPr>
            <a:xfrm>
              <a:off x="1727993" y="2909299"/>
              <a:ext cx="660400" cy="330200"/>
            </a:xfrm>
            <a:prstGeom prst="flowChartPunchedCard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 dirty="0">
                  <a:solidFill>
                    <a:schemeClr val="tx1"/>
                  </a:solidFill>
                </a:rPr>
                <a:t>Data</a:t>
              </a:r>
            </a:p>
          </p:txBody>
        </p:sp>
        <p:sp>
          <p:nvSpPr>
            <p:cNvPr id="16" name="Flowchart: Card 18">
              <a:extLst>
                <a:ext uri="{FF2B5EF4-FFF2-40B4-BE49-F238E27FC236}">
                  <a16:creationId xmlns:a16="http://schemas.microsoft.com/office/drawing/2014/main" id="{17E4963C-A8DE-70FA-7669-583563DB042A}"/>
                </a:ext>
              </a:extLst>
            </p:cNvPr>
            <p:cNvSpPr/>
            <p:nvPr/>
          </p:nvSpPr>
          <p:spPr>
            <a:xfrm>
              <a:off x="3290093" y="2909299"/>
              <a:ext cx="660400" cy="330200"/>
            </a:xfrm>
            <a:prstGeom prst="flowChartPunchedCard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>
                  <a:solidFill>
                    <a:schemeClr val="tx1"/>
                  </a:solidFill>
                </a:rPr>
                <a:t>Data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FEC8FBD-E73C-2489-D8E0-7706FC84A03A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>
              <a:off x="2388393" y="3074399"/>
              <a:ext cx="9017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038DA8-7509-307C-C4A3-FD8BE5789F38}"/>
                </a:ext>
              </a:extLst>
            </p:cNvPr>
            <p:cNvSpPr txBox="1"/>
            <p:nvPr/>
          </p:nvSpPr>
          <p:spPr>
            <a:xfrm>
              <a:off x="2531268" y="2775216"/>
              <a:ext cx="586287" cy="332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Send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509B06-3A38-E555-B4BA-5113F46D50F9}"/>
                </a:ext>
              </a:extLst>
            </p:cNvPr>
            <p:cNvSpPr txBox="1"/>
            <p:nvPr/>
          </p:nvSpPr>
          <p:spPr>
            <a:xfrm>
              <a:off x="1967017" y="2289954"/>
              <a:ext cx="1452216" cy="3522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200" dirty="0"/>
                <a:t>Regular Backup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E11088-1163-34EB-4DC5-FFA82AAA662B}"/>
              </a:ext>
            </a:extLst>
          </p:cNvPr>
          <p:cNvGrpSpPr/>
          <p:nvPr/>
        </p:nvGrpSpPr>
        <p:grpSpPr>
          <a:xfrm>
            <a:off x="8035436" y="3835809"/>
            <a:ext cx="3951730" cy="2027304"/>
            <a:chOff x="6096000" y="3879808"/>
            <a:chExt cx="4434028" cy="238065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8AAE72E-8ED3-BFFF-8A51-0A2C2F79684B}"/>
                </a:ext>
              </a:extLst>
            </p:cNvPr>
            <p:cNvSpPr/>
            <p:nvPr/>
          </p:nvSpPr>
          <p:spPr>
            <a:xfrm>
              <a:off x="6120875" y="4315805"/>
              <a:ext cx="2039852" cy="1880835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22" name="Cylinder 28">
              <a:extLst>
                <a:ext uri="{FF2B5EF4-FFF2-40B4-BE49-F238E27FC236}">
                  <a16:creationId xmlns:a16="http://schemas.microsoft.com/office/drawing/2014/main" id="{767CAA58-CE4E-7D0F-F991-5BF064ED4D17}"/>
                </a:ext>
              </a:extLst>
            </p:cNvPr>
            <p:cNvSpPr/>
            <p:nvPr/>
          </p:nvSpPr>
          <p:spPr>
            <a:xfrm>
              <a:off x="7094678" y="5216085"/>
              <a:ext cx="939800" cy="640310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998F980-624A-5784-3986-31D71D86A2DB}"/>
                </a:ext>
              </a:extLst>
            </p:cNvPr>
            <p:cNvSpPr/>
            <p:nvPr/>
          </p:nvSpPr>
          <p:spPr>
            <a:xfrm>
              <a:off x="8993328" y="4315805"/>
              <a:ext cx="1536700" cy="1880835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24" name="Cylinder 30">
              <a:extLst>
                <a:ext uri="{FF2B5EF4-FFF2-40B4-BE49-F238E27FC236}">
                  <a16:creationId xmlns:a16="http://schemas.microsoft.com/office/drawing/2014/main" id="{E27607AC-0850-8186-709C-84153A09C716}"/>
                </a:ext>
              </a:extLst>
            </p:cNvPr>
            <p:cNvSpPr/>
            <p:nvPr/>
          </p:nvSpPr>
          <p:spPr>
            <a:xfrm>
              <a:off x="9228278" y="5216085"/>
              <a:ext cx="939800" cy="640310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12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3037C8A-189E-21D1-1673-734A43325FC4}"/>
                </a:ext>
              </a:extLst>
            </p:cNvPr>
            <p:cNvSpPr txBox="1"/>
            <p:nvPr/>
          </p:nvSpPr>
          <p:spPr>
            <a:xfrm>
              <a:off x="7031178" y="5935250"/>
              <a:ext cx="901481" cy="307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Controller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56E54B-5B29-540A-6CD7-949E0A225F09}"/>
                </a:ext>
              </a:extLst>
            </p:cNvPr>
            <p:cNvSpPr txBox="1"/>
            <p:nvPr/>
          </p:nvSpPr>
          <p:spPr>
            <a:xfrm>
              <a:off x="9491230" y="5953259"/>
              <a:ext cx="408652" cy="307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PC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E2BEC80-1448-41B3-3402-A9B18A3571B1}"/>
                </a:ext>
              </a:extLst>
            </p:cNvPr>
            <p:cNvCxnSpPr>
              <a:cxnSpLocks/>
              <a:stCxn id="35" idx="3"/>
              <a:endCxn id="31" idx="2"/>
            </p:cNvCxnSpPr>
            <p:nvPr/>
          </p:nvCxnSpPr>
          <p:spPr>
            <a:xfrm flipV="1">
              <a:off x="6783221" y="4780089"/>
              <a:ext cx="749607" cy="78582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21836C-5656-8644-BDA2-2CF5CE7C3FCA}"/>
                </a:ext>
              </a:extLst>
            </p:cNvPr>
            <p:cNvSpPr txBox="1"/>
            <p:nvPr/>
          </p:nvSpPr>
          <p:spPr>
            <a:xfrm>
              <a:off x="6096000" y="4824980"/>
              <a:ext cx="1110123" cy="307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Send request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08A6C45-0A35-C978-DF98-04FE9A986DA7}"/>
                </a:ext>
              </a:extLst>
            </p:cNvPr>
            <p:cNvSpPr txBox="1"/>
            <p:nvPr/>
          </p:nvSpPr>
          <p:spPr>
            <a:xfrm>
              <a:off x="9574354" y="4819803"/>
              <a:ext cx="912273" cy="307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Write data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EB28C01-4EBA-797F-1EC6-51982BEC5E40}"/>
                </a:ext>
              </a:extLst>
            </p:cNvPr>
            <p:cNvCxnSpPr>
              <a:cxnSpLocks/>
              <a:stCxn id="32" idx="2"/>
              <a:endCxn id="24" idx="1"/>
            </p:cNvCxnSpPr>
            <p:nvPr/>
          </p:nvCxnSpPr>
          <p:spPr>
            <a:xfrm>
              <a:off x="9450528" y="4780089"/>
              <a:ext cx="247650" cy="4359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lowchart: Card 37">
              <a:extLst>
                <a:ext uri="{FF2B5EF4-FFF2-40B4-BE49-F238E27FC236}">
                  <a16:creationId xmlns:a16="http://schemas.microsoft.com/office/drawing/2014/main" id="{CD7C2C5A-243A-6E75-E13D-9EEB26136BF1}"/>
                </a:ext>
              </a:extLst>
            </p:cNvPr>
            <p:cNvSpPr/>
            <p:nvPr/>
          </p:nvSpPr>
          <p:spPr>
            <a:xfrm>
              <a:off x="7202628" y="4449889"/>
              <a:ext cx="660400" cy="330200"/>
            </a:xfrm>
            <a:prstGeom prst="flowChartPunchedCard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>
                  <a:solidFill>
                    <a:schemeClr val="tx1"/>
                  </a:solidFill>
                </a:rPr>
                <a:t>Data</a:t>
              </a:r>
            </a:p>
          </p:txBody>
        </p:sp>
        <p:sp>
          <p:nvSpPr>
            <p:cNvPr id="32" name="Flowchart: Card 38">
              <a:extLst>
                <a:ext uri="{FF2B5EF4-FFF2-40B4-BE49-F238E27FC236}">
                  <a16:creationId xmlns:a16="http://schemas.microsoft.com/office/drawing/2014/main" id="{CECF9606-380E-10F7-34C4-9B0C2265532C}"/>
                </a:ext>
              </a:extLst>
            </p:cNvPr>
            <p:cNvSpPr/>
            <p:nvPr/>
          </p:nvSpPr>
          <p:spPr>
            <a:xfrm>
              <a:off x="9120328" y="4449889"/>
              <a:ext cx="660400" cy="330200"/>
            </a:xfrm>
            <a:prstGeom prst="flowChartPunchedCard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>
                  <a:solidFill>
                    <a:schemeClr val="tx1"/>
                  </a:solidFill>
                </a:rPr>
                <a:t>Data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AAEA5AC-A618-846B-063A-8522888B733C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>
              <a:off x="7863028" y="4614989"/>
              <a:ext cx="12573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6BC9B2-C391-86A4-6F5C-5DAAB62A50B0}"/>
                </a:ext>
              </a:extLst>
            </p:cNvPr>
            <p:cNvSpPr txBox="1"/>
            <p:nvPr/>
          </p:nvSpPr>
          <p:spPr>
            <a:xfrm>
              <a:off x="8178397" y="4315805"/>
              <a:ext cx="556142" cy="307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/>
                <a:t>Send</a:t>
              </a:r>
            </a:p>
          </p:txBody>
        </p:sp>
        <p:sp>
          <p:nvSpPr>
            <p:cNvPr id="35" name="Rectangle: Rounded Corners 41">
              <a:extLst>
                <a:ext uri="{FF2B5EF4-FFF2-40B4-BE49-F238E27FC236}">
                  <a16:creationId xmlns:a16="http://schemas.microsoft.com/office/drawing/2014/main" id="{BCF13AC2-7B5D-07B8-0A95-3B717F61036D}"/>
                </a:ext>
              </a:extLst>
            </p:cNvPr>
            <p:cNvSpPr/>
            <p:nvPr/>
          </p:nvSpPr>
          <p:spPr>
            <a:xfrm>
              <a:off x="6184819" y="5320169"/>
              <a:ext cx="598402" cy="49149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00">
                  <a:solidFill>
                    <a:schemeClr val="tx1"/>
                  </a:solidFill>
                </a:rPr>
                <a:t>Logic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607CD9B-EA82-BCF1-04BF-267E4D9C89E8}"/>
                </a:ext>
              </a:extLst>
            </p:cNvPr>
            <p:cNvCxnSpPr>
              <a:cxnSpLocks/>
              <a:stCxn id="35" idx="3"/>
              <a:endCxn id="22" idx="2"/>
            </p:cNvCxnSpPr>
            <p:nvPr/>
          </p:nvCxnSpPr>
          <p:spPr>
            <a:xfrm flipV="1">
              <a:off x="6783221" y="5536240"/>
              <a:ext cx="311457" cy="296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4A89CCE-48D7-1AD5-2BE5-24FA0A989F78}"/>
                </a:ext>
              </a:extLst>
            </p:cNvPr>
            <p:cNvSpPr txBox="1"/>
            <p:nvPr/>
          </p:nvSpPr>
          <p:spPr>
            <a:xfrm>
              <a:off x="6755243" y="5525662"/>
              <a:ext cx="860232" cy="505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50"/>
                <a:t>Write request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0B57CA-FD2C-B7CF-627E-02CF3DA26BB5}"/>
                </a:ext>
              </a:extLst>
            </p:cNvPr>
            <p:cNvSpPr txBox="1"/>
            <p:nvPr/>
          </p:nvSpPr>
          <p:spPr>
            <a:xfrm>
              <a:off x="7537363" y="3879808"/>
              <a:ext cx="2243365" cy="325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200" dirty="0"/>
                <a:t>Real-time Backup</a:t>
              </a:r>
            </a:p>
          </p:txBody>
        </p: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80CF32-51AE-8282-1111-3832EAA5565E}"/>
              </a:ext>
            </a:extLst>
          </p:cNvPr>
          <p:cNvCxnSpPr>
            <a:cxnSpLocks/>
            <a:endCxn id="6" idx="4"/>
          </p:cNvCxnSpPr>
          <p:nvPr/>
        </p:nvCxnSpPr>
        <p:spPr>
          <a:xfrm flipH="1">
            <a:off x="9481754" y="2740071"/>
            <a:ext cx="1002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9ECED92-4B24-8BA3-F0A2-3BB21C29900D}"/>
              </a:ext>
            </a:extLst>
          </p:cNvPr>
          <p:cNvSpPr txBox="1"/>
          <p:nvPr/>
        </p:nvSpPr>
        <p:spPr>
          <a:xfrm>
            <a:off x="9646625" y="2760581"/>
            <a:ext cx="69442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dirty="0"/>
              <a:t>Request </a:t>
            </a:r>
          </a:p>
          <a:p>
            <a:r>
              <a:rPr lang="en-SG" sz="1050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156722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F111-2B5C-2F2D-0FF2-228978C7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452"/>
            <a:ext cx="10515600" cy="1325563"/>
          </a:xfrm>
        </p:spPr>
        <p:txBody>
          <a:bodyPr/>
          <a:lstStyle/>
          <a:p>
            <a:r>
              <a:rPr lang="en-US" dirty="0"/>
              <a:t>Application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C19A0-102E-9AD7-B4E3-2B7FBC989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445"/>
            <a:ext cx="10515600" cy="4815807"/>
          </a:xfrm>
        </p:spPr>
        <p:txBody>
          <a:bodyPr>
            <a:noAutofit/>
          </a:bodyPr>
          <a:lstStyle/>
          <a:p>
            <a:pPr marL="0" indent="0">
              <a:buNone/>
              <a:defRPr sz="1400"/>
            </a:pPr>
            <a:r>
              <a:rPr lang="en-US" sz="1400" dirty="0"/>
              <a:t>This section describes the complete app flow from launch to close.</a:t>
            </a:r>
          </a:p>
          <a:p>
            <a:pPr>
              <a:defRPr sz="1400"/>
            </a:pPr>
            <a:endParaRPr lang="en-US" sz="1400" dirty="0"/>
          </a:p>
          <a:p>
            <a:pPr>
              <a:defRPr sz="1400"/>
            </a:pPr>
            <a:r>
              <a:rPr lang="en-US" sz="1400" b="1" dirty="0"/>
              <a:t>First-time Setup (one-time):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Language selection.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Controller registration — via QR code scan or local network search (UDP broadcast).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Enter username and password for controller login.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Set backup storage folder path.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User triggers initial FTP backup</a:t>
            </a:r>
          </a:p>
          <a:p>
            <a:pPr marL="1257300" lvl="2" indent="-342900">
              <a:buFont typeface="+mj-lt"/>
              <a:buAutoNum type="arabicPeriod"/>
              <a:defRPr sz="1400"/>
            </a:pPr>
            <a:r>
              <a:rPr lang="en-US" sz="1050" dirty="0"/>
              <a:t>While FTP downloads, WebSocket connects and real-time backup starts → writes to TEMP DB</a:t>
            </a:r>
          </a:p>
          <a:p>
            <a:pPr marL="1257300" lvl="2" indent="-342900">
              <a:buFont typeface="+mj-lt"/>
              <a:buAutoNum type="arabicPeriod"/>
              <a:defRPr sz="1400"/>
            </a:pPr>
            <a:r>
              <a:rPr lang="en-US" sz="1050" dirty="0"/>
              <a:t>After FTP completes, flush TEMP DB → MAIN DB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Switch real-time backup to write directly to MAIN DB. Normal operation begins.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Optionally enable 'Launch on Windows Startup'.</a:t>
            </a:r>
          </a:p>
          <a:p>
            <a:pPr>
              <a:defRPr sz="1400"/>
            </a:pPr>
            <a:endParaRPr lang="en-US" sz="1400" dirty="0"/>
          </a:p>
          <a:p>
            <a:pPr>
              <a:defRPr sz="1400"/>
            </a:pPr>
            <a:r>
              <a:rPr lang="en-US" sz="1400" b="1" dirty="0"/>
              <a:t>Normal Startup: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App launches (manually or via Windows auto-start).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If auto-login is enabled: app connects to the saved controller automatically.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If auto-login is disabled: app shows login screen; user selects controller and enters credentials.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sz="1400" dirty="0"/>
              <a:t>On successful connection: real-time backup begins; missed-data check and runs during midnight.</a:t>
            </a:r>
          </a:p>
          <a:p>
            <a:pPr>
              <a:defRPr sz="1400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928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5FA5-0FF9-1675-7CD1-AC86D1CA8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6A64-3310-059B-BF73-F44CE22E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Lifecycle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0F22B-81B8-7940-6A81-22FB734DA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5807"/>
          </a:xfrm>
        </p:spPr>
        <p:txBody>
          <a:bodyPr>
            <a:noAutofit/>
          </a:bodyPr>
          <a:lstStyle/>
          <a:p>
            <a:pPr>
              <a:defRPr sz="1400"/>
            </a:pPr>
            <a:r>
              <a:rPr lang="en-US" sz="1400" b="1" dirty="0"/>
              <a:t>Ongoing Operation:</a:t>
            </a:r>
          </a:p>
          <a:p>
            <a:pPr lvl="1">
              <a:defRPr sz="1400"/>
            </a:pPr>
            <a:r>
              <a:rPr lang="en-US" sz="1400" dirty="0"/>
              <a:t>App runs in background 24/7. Backup runs automatically (logic described on next page). User can monitor status via the home screen.</a:t>
            </a:r>
            <a:endParaRPr lang="en-US" dirty="0"/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lang="en-US" b="1" dirty="0"/>
              <a:t>Logout: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dirty="0"/>
              <a:t>User initiates logout from the UI.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dirty="0"/>
              <a:t>App shows a warning: 'Logging out will stop the background backup process. Are you sure you want to continue?'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dirty="0"/>
              <a:t>If confirmed: backup stops, connection closes, app returns to login screen.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lang="en-US" b="1" dirty="0"/>
              <a:t>Close / Exit: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dirty="0"/>
              <a:t>User attempts to close the app window.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dirty="0"/>
              <a:t>App shows a warning: 'Closing this app will stop all background backup. Data recorded while the app is closed will NOT be backed up in real-time. It is recommended to keep the app running.'</a:t>
            </a:r>
          </a:p>
          <a:p>
            <a:pPr marL="800100" lvl="1" indent="-342900">
              <a:buFont typeface="+mj-lt"/>
              <a:buAutoNum type="arabicPeriod"/>
              <a:defRPr sz="1400"/>
            </a:pPr>
            <a:r>
              <a:rPr lang="en-US" dirty="0"/>
              <a:t>Options: 'Minimize to tray' (recommended) or 'Close anyway'.</a:t>
            </a:r>
          </a:p>
          <a:p>
            <a:pPr lvl="2">
              <a:defRPr sz="1400"/>
            </a:pPr>
            <a:r>
              <a:rPr lang="en-US" dirty="0"/>
              <a:t>If minimized: app continues running in system tray with full backup active.</a:t>
            </a:r>
          </a:p>
          <a:p>
            <a:pPr lvl="2">
              <a:defRPr sz="1400"/>
            </a:pPr>
            <a:r>
              <a:rPr lang="en-US" dirty="0"/>
              <a:t>If closed: backup stops. On next launch, a regular backup fills the gap.</a:t>
            </a:r>
          </a:p>
          <a:p>
            <a:pPr marL="0" indent="0">
              <a:buNone/>
              <a:defRPr sz="14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57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51975-591C-96D2-2095-FD46D080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82BE46-1906-E8C0-E8F0-66DE48C76FCF}"/>
              </a:ext>
            </a:extLst>
          </p:cNvPr>
          <p:cNvCxnSpPr>
            <a:cxnSpLocks/>
          </p:cNvCxnSpPr>
          <p:nvPr/>
        </p:nvCxnSpPr>
        <p:spPr>
          <a:xfrm>
            <a:off x="1746668" y="1858617"/>
            <a:ext cx="93752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3B0C80-4DE7-1D24-E712-23AC73DEE78F}"/>
              </a:ext>
            </a:extLst>
          </p:cNvPr>
          <p:cNvSpPr/>
          <p:nvPr/>
        </p:nvSpPr>
        <p:spPr>
          <a:xfrm>
            <a:off x="2521919" y="1475967"/>
            <a:ext cx="904461" cy="7652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83D66A4-64A1-58FF-18E2-05A3BCB37FFC}"/>
              </a:ext>
            </a:extLst>
          </p:cNvPr>
          <p:cNvSpPr/>
          <p:nvPr/>
        </p:nvSpPr>
        <p:spPr>
          <a:xfrm>
            <a:off x="4201631" y="1475967"/>
            <a:ext cx="904461" cy="7652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C7A454-779E-F570-0A88-79E9661D043A}"/>
              </a:ext>
            </a:extLst>
          </p:cNvPr>
          <p:cNvSpPr/>
          <p:nvPr/>
        </p:nvSpPr>
        <p:spPr>
          <a:xfrm>
            <a:off x="5881343" y="1475966"/>
            <a:ext cx="904461" cy="76529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EA9456-ED74-0BE4-2290-344EF79FB65C}"/>
              </a:ext>
            </a:extLst>
          </p:cNvPr>
          <p:cNvSpPr/>
          <p:nvPr/>
        </p:nvSpPr>
        <p:spPr>
          <a:xfrm>
            <a:off x="7542841" y="1480929"/>
            <a:ext cx="904461" cy="7652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9072BC-8326-D1D9-D952-B319B0E37190}"/>
              </a:ext>
            </a:extLst>
          </p:cNvPr>
          <p:cNvSpPr/>
          <p:nvPr/>
        </p:nvSpPr>
        <p:spPr>
          <a:xfrm>
            <a:off x="9222553" y="1475967"/>
            <a:ext cx="904461" cy="7652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C9073-7C33-51A1-F414-464A63A6CF5F}"/>
              </a:ext>
            </a:extLst>
          </p:cNvPr>
          <p:cNvSpPr txBox="1"/>
          <p:nvPr/>
        </p:nvSpPr>
        <p:spPr>
          <a:xfrm>
            <a:off x="554587" y="1673949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19A861-7857-5BCC-C2DF-9846569D7CF5}"/>
              </a:ext>
            </a:extLst>
          </p:cNvPr>
          <p:cNvSpPr txBox="1"/>
          <p:nvPr/>
        </p:nvSpPr>
        <p:spPr>
          <a:xfrm>
            <a:off x="4201631" y="2544704"/>
            <a:ext cx="172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</a:rPr>
              <a:t>App connects</a:t>
            </a:r>
          </a:p>
          <a:p>
            <a:pPr algn="l"/>
            <a:r>
              <a:rPr sz="1000" b="1" dirty="0" err="1">
                <a:solidFill>
                  <a:srgbClr val="1A73E8"/>
                </a:solidFill>
              </a:rPr>
              <a:t>T_connect</a:t>
            </a:r>
            <a:r>
              <a:rPr sz="1000" b="1" dirty="0">
                <a:solidFill>
                  <a:srgbClr val="1A73E8"/>
                </a:solidFill>
              </a:rPr>
              <a:t> = now()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D07595-403D-B2B7-9D1A-4DCB4ABEF113}"/>
              </a:ext>
            </a:extLst>
          </p:cNvPr>
          <p:cNvCxnSpPr/>
          <p:nvPr/>
        </p:nvCxnSpPr>
        <p:spPr>
          <a:xfrm flipV="1">
            <a:off x="4692426" y="2276348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599603E-56CE-A608-CD8E-939192BE731B}"/>
              </a:ext>
            </a:extLst>
          </p:cNvPr>
          <p:cNvSpPr txBox="1"/>
          <p:nvPr/>
        </p:nvSpPr>
        <p:spPr>
          <a:xfrm>
            <a:off x="1340690" y="4789214"/>
            <a:ext cx="95106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333333"/>
                </a:solidFill>
              </a:rPr>
              <a:t>App closed at [A], real-time backup stops.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333333"/>
                </a:solidFill>
              </a:rPr>
              <a:t>App opens and connects to controller at [</a:t>
            </a:r>
            <a:r>
              <a:rPr lang="en-US" sz="1400" b="0" dirty="0">
                <a:solidFill>
                  <a:srgbClr val="333333"/>
                </a:solidFill>
              </a:rPr>
              <a:t>B</a:t>
            </a:r>
            <a:r>
              <a:rPr sz="1400" b="0" dirty="0">
                <a:solidFill>
                  <a:srgbClr val="333333"/>
                </a:solidFill>
              </a:rPr>
              <a:t>], record </a:t>
            </a:r>
            <a:r>
              <a:rPr sz="1400" b="0" dirty="0" err="1">
                <a:solidFill>
                  <a:srgbClr val="333333"/>
                </a:solidFill>
              </a:rPr>
              <a:t>T_connect</a:t>
            </a:r>
            <a:r>
              <a:rPr sz="1400" b="0" dirty="0">
                <a:solidFill>
                  <a:srgbClr val="333333"/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b="1" dirty="0">
                <a:solidFill>
                  <a:srgbClr val="1A73E8"/>
                </a:solidFill>
              </a:rPr>
              <a:t>Real-time backup  starts → writes to TEMP DB (separate SQLite file).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333333"/>
                </a:solidFill>
              </a:rPr>
              <a:t>At off-peak (midnight</a:t>
            </a:r>
            <a:r>
              <a:rPr lang="en-US" sz="1400" b="0" dirty="0">
                <a:solidFill>
                  <a:srgbClr val="333333"/>
                </a:solidFill>
              </a:rPr>
              <a:t> 3-5am</a:t>
            </a:r>
            <a:r>
              <a:rPr sz="1400" b="0" dirty="0">
                <a:solidFill>
                  <a:srgbClr val="333333"/>
                </a:solidFill>
              </a:rPr>
              <a:t>) or manual trigger:</a:t>
            </a:r>
          </a:p>
          <a:p>
            <a:pPr lvl="1"/>
            <a:r>
              <a:rPr sz="1400" b="1" dirty="0">
                <a:solidFill>
                  <a:srgbClr val="E65C00"/>
                </a:solidFill>
              </a:rPr>
              <a:t>  1. Regular backup fills [</a:t>
            </a:r>
            <a:r>
              <a:rPr sz="1400" b="1" dirty="0" err="1">
                <a:solidFill>
                  <a:srgbClr val="E65C00"/>
                </a:solidFill>
              </a:rPr>
              <a:t>lastLocal</a:t>
            </a:r>
            <a:r>
              <a:rPr sz="1400" b="1" dirty="0">
                <a:solidFill>
                  <a:srgbClr val="E65C00"/>
                </a:solidFill>
              </a:rPr>
              <a:t> → </a:t>
            </a:r>
            <a:r>
              <a:rPr sz="1400" b="1" dirty="0" err="1">
                <a:solidFill>
                  <a:srgbClr val="E65C00"/>
                </a:solidFill>
              </a:rPr>
              <a:t>T_connect</a:t>
            </a:r>
            <a:r>
              <a:rPr sz="1400" b="1" dirty="0">
                <a:solidFill>
                  <a:srgbClr val="E65C00"/>
                </a:solidFill>
              </a:rPr>
              <a:t>] → MAIN DB (chronological)</a:t>
            </a:r>
          </a:p>
          <a:p>
            <a:pPr lvl="1"/>
            <a:r>
              <a:rPr sz="1400" b="1" dirty="0">
                <a:solidFill>
                  <a:srgbClr val="0D9638"/>
                </a:solidFill>
              </a:rPr>
              <a:t>  2. </a:t>
            </a:r>
            <a:r>
              <a:rPr lang="en-US" sz="1400" b="1" dirty="0">
                <a:solidFill>
                  <a:srgbClr val="0D9638"/>
                </a:solidFill>
              </a:rPr>
              <a:t>Regular backup</a:t>
            </a:r>
            <a:r>
              <a:rPr sz="1400" b="1" dirty="0">
                <a:solidFill>
                  <a:srgbClr val="0D9638"/>
                </a:solidFill>
              </a:rPr>
              <a:t> completes → </a:t>
            </a:r>
            <a:r>
              <a:rPr lang="en-US" sz="1400" b="1" dirty="0">
                <a:solidFill>
                  <a:srgbClr val="0D9638"/>
                </a:solidFill>
              </a:rPr>
              <a:t>copy</a:t>
            </a:r>
            <a:r>
              <a:rPr sz="1400" b="1" dirty="0">
                <a:solidFill>
                  <a:srgbClr val="0D9638"/>
                </a:solidFill>
              </a:rPr>
              <a:t> TEMP DB → </a:t>
            </a:r>
            <a:r>
              <a:rPr lang="en-US" sz="1400" b="1" dirty="0">
                <a:solidFill>
                  <a:srgbClr val="0D9638"/>
                </a:solidFill>
              </a:rPr>
              <a:t>paste to </a:t>
            </a:r>
            <a:r>
              <a:rPr sz="1400" b="1" dirty="0">
                <a:solidFill>
                  <a:srgbClr val="0D9638"/>
                </a:solidFill>
              </a:rPr>
              <a:t>MAIN DB (chronological after )</a:t>
            </a:r>
          </a:p>
          <a:p>
            <a:pPr lvl="1"/>
            <a:r>
              <a:rPr sz="1400" b="1" dirty="0">
                <a:solidFill>
                  <a:srgbClr val="0D9638"/>
                </a:solidFill>
              </a:rPr>
              <a:t>  3. Switch </a:t>
            </a:r>
            <a:r>
              <a:rPr lang="en-US" sz="1400" b="1" dirty="0">
                <a:solidFill>
                  <a:srgbClr val="0D9638"/>
                </a:solidFill>
              </a:rPr>
              <a:t>Real-time backup</a:t>
            </a:r>
            <a:r>
              <a:rPr sz="1400" b="1" dirty="0">
                <a:solidFill>
                  <a:srgbClr val="0D9638"/>
                </a:solidFill>
              </a:rPr>
              <a:t> → writes directly to MAIN DB. Clear temp.</a:t>
            </a:r>
            <a:br>
              <a:rPr lang="en-US" sz="1400" b="1" dirty="0">
                <a:solidFill>
                  <a:srgbClr val="0D9638"/>
                </a:solidFill>
              </a:rPr>
            </a:br>
            <a:endParaRPr sz="1400" b="1" dirty="0">
              <a:solidFill>
                <a:srgbClr val="0D9638"/>
              </a:solidFill>
            </a:endParaRPr>
          </a:p>
          <a:p>
            <a:pPr algn="l"/>
            <a:r>
              <a:rPr sz="1400" b="1" dirty="0">
                <a:solidFill>
                  <a:srgbClr val="C62828"/>
                </a:solidFill>
              </a:rPr>
              <a:t>Strict chronological insert order: A data (old) → temp flush → B direct (new)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606D57-2972-8FBC-D8C7-0D2237F67ACB}"/>
              </a:ext>
            </a:extLst>
          </p:cNvPr>
          <p:cNvCxnSpPr/>
          <p:nvPr/>
        </p:nvCxnSpPr>
        <p:spPr>
          <a:xfrm flipV="1">
            <a:off x="2974149" y="2287539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9FDF05D-B90A-8E6E-AF16-F06751EB2E5C}"/>
              </a:ext>
            </a:extLst>
          </p:cNvPr>
          <p:cNvSpPr txBox="1"/>
          <p:nvPr/>
        </p:nvSpPr>
        <p:spPr>
          <a:xfrm>
            <a:off x="2524541" y="2544705"/>
            <a:ext cx="1722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App closed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B436DC-62D0-23B5-3282-A5CBF5B2FF37}"/>
              </a:ext>
            </a:extLst>
          </p:cNvPr>
          <p:cNvSpPr txBox="1"/>
          <p:nvPr/>
        </p:nvSpPr>
        <p:spPr>
          <a:xfrm>
            <a:off x="2567154" y="3018401"/>
            <a:ext cx="172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E65C00"/>
                </a:solidFill>
              </a:rPr>
              <a:t>lastLocal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C52AEA-9A28-2945-A899-5796AC47CA96}"/>
              </a:ext>
            </a:extLst>
          </p:cNvPr>
          <p:cNvSpPr txBox="1"/>
          <p:nvPr/>
        </p:nvSpPr>
        <p:spPr>
          <a:xfrm>
            <a:off x="4290164" y="3034682"/>
            <a:ext cx="172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1A73E8"/>
                </a:solidFill>
              </a:rPr>
              <a:t>T_connect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610067B-5D73-7C86-F1DE-C4304224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08" y="213097"/>
            <a:ext cx="10515600" cy="79438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333333"/>
                </a:solidFill>
              </a:rPr>
              <a:t>Backup System Design (Core Logic)</a:t>
            </a:r>
            <a:endParaRPr sz="2400" b="1" dirty="0">
              <a:solidFill>
                <a:srgbClr val="333333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8C90A3-658D-10CF-DEC4-18E0694670BC}"/>
              </a:ext>
            </a:extLst>
          </p:cNvPr>
          <p:cNvCxnSpPr>
            <a:cxnSpLocks/>
          </p:cNvCxnSpPr>
          <p:nvPr/>
        </p:nvCxnSpPr>
        <p:spPr>
          <a:xfrm>
            <a:off x="4201631" y="3539347"/>
            <a:ext cx="69157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0E1C29D-674C-20F3-D9C2-71B0EDF6C5B7}"/>
              </a:ext>
            </a:extLst>
          </p:cNvPr>
          <p:cNvSpPr txBox="1"/>
          <p:nvPr/>
        </p:nvSpPr>
        <p:spPr>
          <a:xfrm>
            <a:off x="4246866" y="3622632"/>
            <a:ext cx="3268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1A73E8"/>
                </a:solidFill>
              </a:rPr>
              <a:t>1. Real-time backup</a:t>
            </a:r>
            <a:r>
              <a:rPr sz="1100" b="1" dirty="0">
                <a:solidFill>
                  <a:srgbClr val="1A73E8"/>
                </a:solidFill>
              </a:rPr>
              <a:t> → TEMP DB</a:t>
            </a:r>
            <a:r>
              <a:rPr lang="en-US" sz="1100" b="1" dirty="0">
                <a:solidFill>
                  <a:srgbClr val="1A73E8"/>
                </a:solidFill>
              </a:rPr>
              <a:t> </a:t>
            </a:r>
            <a:r>
              <a:rPr sz="1100" b="1" dirty="0">
                <a:solidFill>
                  <a:srgbClr val="1A73E8"/>
                </a:solidFill>
              </a:rPr>
              <a:t> until off-peak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F78D3C-A5DB-EBDA-14DF-C6F37B001B36}"/>
              </a:ext>
            </a:extLst>
          </p:cNvPr>
          <p:cNvSpPr txBox="1"/>
          <p:nvPr/>
        </p:nvSpPr>
        <p:spPr>
          <a:xfrm>
            <a:off x="7652183" y="3624588"/>
            <a:ext cx="21109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dirty="0">
                <a:solidFill>
                  <a:srgbClr val="E65C00"/>
                </a:solidFill>
              </a:rPr>
              <a:t>2. Regular backup </a:t>
            </a:r>
          </a:p>
          <a:p>
            <a:pPr algn="l"/>
            <a:r>
              <a:rPr sz="1000" b="1" dirty="0">
                <a:solidFill>
                  <a:srgbClr val="E65C00"/>
                </a:solidFill>
              </a:rPr>
              <a:t>[</a:t>
            </a:r>
            <a:r>
              <a:rPr sz="1000" b="1" dirty="0" err="1">
                <a:solidFill>
                  <a:srgbClr val="E65C00"/>
                </a:solidFill>
              </a:rPr>
              <a:t>lastLocal→T_connect</a:t>
            </a:r>
            <a:r>
              <a:rPr sz="1000" b="1" dirty="0">
                <a:solidFill>
                  <a:srgbClr val="E65C00"/>
                </a:solidFill>
              </a:rPr>
              <a:t>] → MAIN DB</a:t>
            </a:r>
            <a:endParaRPr lang="en-US" sz="1000" b="1" dirty="0">
              <a:solidFill>
                <a:srgbClr val="E65C00"/>
              </a:solidFill>
            </a:endParaRPr>
          </a:p>
          <a:p>
            <a:pPr algn="l"/>
            <a:endParaRPr sz="1000" b="1" dirty="0">
              <a:solidFill>
                <a:srgbClr val="E65C00"/>
              </a:solidFill>
            </a:endParaRPr>
          </a:p>
          <a:p>
            <a:pPr algn="l"/>
            <a:r>
              <a:rPr lang="en-US" sz="1000" b="1" dirty="0">
                <a:solidFill>
                  <a:srgbClr val="0D9638"/>
                </a:solidFill>
              </a:rPr>
              <a:t>3. </a:t>
            </a:r>
            <a:r>
              <a:rPr sz="1000" b="1" dirty="0">
                <a:solidFill>
                  <a:srgbClr val="0D9638"/>
                </a:solidFill>
              </a:rPr>
              <a:t>Then </a:t>
            </a:r>
            <a:r>
              <a:rPr lang="en-US" sz="1000" b="1" dirty="0">
                <a:solidFill>
                  <a:srgbClr val="0D9638"/>
                </a:solidFill>
              </a:rPr>
              <a:t>copy</a:t>
            </a:r>
            <a:r>
              <a:rPr sz="1000" b="1" dirty="0">
                <a:solidFill>
                  <a:srgbClr val="0D9638"/>
                </a:solidFill>
              </a:rPr>
              <a:t> TEMP → </a:t>
            </a:r>
            <a:r>
              <a:rPr lang="en-US" sz="1000" b="1" dirty="0">
                <a:solidFill>
                  <a:srgbClr val="0D9638"/>
                </a:solidFill>
              </a:rPr>
              <a:t>paste to </a:t>
            </a:r>
            <a:r>
              <a:rPr sz="1000" b="1" dirty="0">
                <a:solidFill>
                  <a:srgbClr val="0D9638"/>
                </a:solidFill>
              </a:rPr>
              <a:t>MAIN DB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4D406D7-ECAA-B13D-5E89-FE7BF40214B8}"/>
              </a:ext>
            </a:extLst>
          </p:cNvPr>
          <p:cNvCxnSpPr>
            <a:cxnSpLocks/>
          </p:cNvCxnSpPr>
          <p:nvPr/>
        </p:nvCxnSpPr>
        <p:spPr>
          <a:xfrm>
            <a:off x="4201631" y="3018401"/>
            <a:ext cx="0" cy="148901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F15F41A-CBD4-3C1C-ADA2-7A65165E7F81}"/>
              </a:ext>
            </a:extLst>
          </p:cNvPr>
          <p:cNvSpPr txBox="1"/>
          <p:nvPr/>
        </p:nvSpPr>
        <p:spPr>
          <a:xfrm>
            <a:off x="7500228" y="1008192"/>
            <a:ext cx="17223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333333"/>
                </a:solidFill>
              </a:rPr>
              <a:t>Next day, 3am (off peak)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D4C0C-E129-D3D5-4605-E632002B12E2}"/>
              </a:ext>
            </a:extLst>
          </p:cNvPr>
          <p:cNvSpPr txBox="1"/>
          <p:nvPr/>
        </p:nvSpPr>
        <p:spPr>
          <a:xfrm>
            <a:off x="4425918" y="1029942"/>
            <a:ext cx="17223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333333"/>
                </a:solidFill>
              </a:rPr>
              <a:t>8am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6D5CBA-D972-FC42-9358-07E9E8E13937}"/>
              </a:ext>
            </a:extLst>
          </p:cNvPr>
          <p:cNvSpPr txBox="1"/>
          <p:nvPr/>
        </p:nvSpPr>
        <p:spPr>
          <a:xfrm>
            <a:off x="2800657" y="1022755"/>
            <a:ext cx="17223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333333"/>
                </a:solidFill>
              </a:rPr>
              <a:t>7am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6B90C9-A539-040F-C269-5334E882ACCA}"/>
              </a:ext>
            </a:extLst>
          </p:cNvPr>
          <p:cNvCxnSpPr>
            <a:cxnSpLocks/>
          </p:cNvCxnSpPr>
          <p:nvPr/>
        </p:nvCxnSpPr>
        <p:spPr>
          <a:xfrm>
            <a:off x="7609113" y="3539347"/>
            <a:ext cx="0" cy="103093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4ED01C7-79C7-BFD5-D748-A686F2E322FE}"/>
              </a:ext>
            </a:extLst>
          </p:cNvPr>
          <p:cNvCxnSpPr>
            <a:cxnSpLocks/>
          </p:cNvCxnSpPr>
          <p:nvPr/>
        </p:nvCxnSpPr>
        <p:spPr>
          <a:xfrm>
            <a:off x="9720018" y="3559451"/>
            <a:ext cx="0" cy="102416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CCA36A3-B7D7-C2AB-F3B0-53F6C8573B39}"/>
              </a:ext>
            </a:extLst>
          </p:cNvPr>
          <p:cNvSpPr txBox="1"/>
          <p:nvPr/>
        </p:nvSpPr>
        <p:spPr>
          <a:xfrm>
            <a:off x="9763087" y="3665868"/>
            <a:ext cx="3268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1A73E8"/>
                </a:solidFill>
              </a:rPr>
              <a:t>4. </a:t>
            </a:r>
            <a:r>
              <a:rPr sz="1100" b="1" dirty="0">
                <a:solidFill>
                  <a:srgbClr val="1A73E8"/>
                </a:solidFill>
              </a:rPr>
              <a:t> → </a:t>
            </a:r>
            <a:r>
              <a:rPr lang="en-US" sz="1100" b="1" dirty="0">
                <a:solidFill>
                  <a:srgbClr val="1A73E8"/>
                </a:solidFill>
              </a:rPr>
              <a:t>Real-time backup → MAIN DB</a:t>
            </a:r>
            <a:endParaRPr sz="1100" b="1" dirty="0">
              <a:solidFill>
                <a:srgbClr val="1A73E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91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211" y="188390"/>
            <a:ext cx="459420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rPr lang="en-US" sz="2400" dirty="0"/>
              <a:t>Decision Flow After Connection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4200000" y="850000"/>
            <a:ext cx="3200000" cy="55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 Connects</a:t>
            </a:r>
            <a:br/>
            <a:r>
              <a:t>Record T_connect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2917" y="1475000"/>
            <a:ext cx="25859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rPr dirty="0"/>
              <a:t>Check for missed data (per DB type)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0000" y="1800000"/>
            <a:ext cx="3200000" cy="5500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rPr dirty="0"/>
              <a:t>Data missed?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400000"/>
            <a:ext cx="25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rPr dirty="0"/>
              <a:t>NO — no write during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000" y="2400000"/>
            <a:ext cx="32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rPr dirty="0"/>
              <a:t>YES — data was missed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2750000"/>
            <a:ext cx="3200000" cy="5500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Real-time Backup</a:t>
            </a:r>
            <a:br/>
            <a:r>
              <a:t>→ writes to MAIN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0000" y="2750000"/>
            <a:ext cx="3200000" cy="55000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Real-time Backup</a:t>
            </a:r>
            <a:br/>
            <a:r>
              <a:t>→ writes to TEMP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000" y="34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▼  Wait for off-peak / manual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000" y="3750000"/>
            <a:ext cx="3200000" cy="5500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Regular Backup runs</a:t>
            </a:r>
            <a:br/>
            <a:r>
              <a:t>[lastLocal → T_connect] → MAIN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000" y="435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▼  Regular Backup completes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0000" y="4700000"/>
            <a:ext cx="3200000" cy="5500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Flush TEMP → MAIN DB</a:t>
            </a:r>
            <a:br/>
            <a:r>
              <a:t>(single transaction)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0000" y="53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55555"/>
                </a:solidFill>
              </a:defRPr>
            </a:pPr>
            <a:r>
              <a:t>▼  Flush completes, delete TEMP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0000" y="5650000"/>
            <a:ext cx="3200000" cy="5500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Real-time Backup</a:t>
            </a:r>
            <a:br/>
            <a:r>
              <a:t>→ switches to MAIN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00" y="3500000"/>
            <a:ext cx="3200000" cy="40000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✓  Done — backup is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000" y="63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70AD47"/>
                </a:solidFill>
              </a:defRPr>
            </a:pPr>
            <a:r>
              <a:t>✓  Done — backup is live, MAIN DB fully chronological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4500000"/>
            <a:ext cx="32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rPr dirty="0"/>
              <a:t>Key Rules:</a:t>
            </a:r>
          </a:p>
          <a:p>
            <a:pPr>
              <a:defRPr sz="4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900" b="0">
                <a:solidFill>
                  <a:srgbClr val="333333"/>
                </a:solidFill>
              </a:defRPr>
            </a:pPr>
            <a:r>
              <a:rPr dirty="0"/>
              <a:t>• MAIN DB is never out of order</a:t>
            </a:r>
          </a:p>
          <a:p>
            <a:pPr>
              <a:defRPr sz="900" b="0">
                <a:solidFill>
                  <a:srgbClr val="333333"/>
                </a:solidFill>
              </a:defRPr>
            </a:pPr>
            <a:r>
              <a:rPr dirty="0"/>
              <a:t>• Partial Regular Backup never triggers flush</a:t>
            </a:r>
          </a:p>
          <a:p>
            <a:pPr>
              <a:defRPr sz="900" b="0">
                <a:solidFill>
                  <a:srgbClr val="333333"/>
                </a:solidFill>
              </a:defRPr>
            </a:pPr>
            <a:r>
              <a:rPr dirty="0"/>
              <a:t>• TEMP DB persists on disk (crash-safe)</a:t>
            </a:r>
          </a:p>
          <a:p>
            <a:pPr>
              <a:defRPr sz="900" b="0">
                <a:solidFill>
                  <a:srgbClr val="333333"/>
                </a:solidFill>
              </a:defRPr>
            </a:pPr>
            <a:r>
              <a:rPr dirty="0"/>
              <a:t>• Flush wrapped in single transaction</a:t>
            </a:r>
          </a:p>
          <a:p>
            <a:pPr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flush_status</a:t>
            </a:r>
            <a:r>
              <a:rPr dirty="0"/>
              <a:t> flag prevents double-flush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E3FC8A-990B-DCD4-C86B-22FE83649677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5800000" y="1400000"/>
            <a:ext cx="0" cy="40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E67179-61F8-FAD9-BDCF-0AAA24B5186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2100000" y="2350000"/>
            <a:ext cx="3700000" cy="40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796623-BFC7-FB58-6B72-32D87BBE6D72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800000" y="2350000"/>
            <a:ext cx="3700000" cy="40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430E40-FD06-F363-DF4B-1F1AF4B7B870}"/>
              </a:ext>
            </a:extLst>
          </p:cNvPr>
          <p:cNvCxnSpPr>
            <a:cxnSpLocks/>
          </p:cNvCxnSpPr>
          <p:nvPr/>
        </p:nvCxnSpPr>
        <p:spPr>
          <a:xfrm>
            <a:off x="8328047" y="3340141"/>
            <a:ext cx="0" cy="40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3C74B2-09B2-29E5-E2D7-C02CA5132CDC}"/>
              </a:ext>
            </a:extLst>
          </p:cNvPr>
          <p:cNvCxnSpPr>
            <a:cxnSpLocks/>
          </p:cNvCxnSpPr>
          <p:nvPr/>
        </p:nvCxnSpPr>
        <p:spPr>
          <a:xfrm>
            <a:off x="8328047" y="4313247"/>
            <a:ext cx="0" cy="40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24F197-9E78-36AC-1E24-4185978F0B6F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2100000" y="3300000"/>
            <a:ext cx="0" cy="20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854C76-9FD2-2D72-99A5-910065C52AF4}"/>
              </a:ext>
            </a:extLst>
          </p:cNvPr>
          <p:cNvCxnSpPr>
            <a:cxnSpLocks/>
          </p:cNvCxnSpPr>
          <p:nvPr/>
        </p:nvCxnSpPr>
        <p:spPr>
          <a:xfrm>
            <a:off x="8328047" y="5250000"/>
            <a:ext cx="0" cy="40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551975-591C-96D2-2095-FD46D080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82BE46-1906-E8C0-E8F0-66DE48C76FCF}"/>
              </a:ext>
            </a:extLst>
          </p:cNvPr>
          <p:cNvCxnSpPr>
            <a:cxnSpLocks/>
          </p:cNvCxnSpPr>
          <p:nvPr/>
        </p:nvCxnSpPr>
        <p:spPr>
          <a:xfrm>
            <a:off x="1746668" y="1858617"/>
            <a:ext cx="93752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3B0C80-4DE7-1D24-E712-23AC73DEE78F}"/>
              </a:ext>
            </a:extLst>
          </p:cNvPr>
          <p:cNvSpPr/>
          <p:nvPr/>
        </p:nvSpPr>
        <p:spPr>
          <a:xfrm>
            <a:off x="2521919" y="1475967"/>
            <a:ext cx="904461" cy="7652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83D66A4-64A1-58FF-18E2-05A3BCB37FFC}"/>
              </a:ext>
            </a:extLst>
          </p:cNvPr>
          <p:cNvSpPr/>
          <p:nvPr/>
        </p:nvSpPr>
        <p:spPr>
          <a:xfrm>
            <a:off x="4201631" y="1475967"/>
            <a:ext cx="904461" cy="7652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C7A454-779E-F570-0A88-79E9661D043A}"/>
              </a:ext>
            </a:extLst>
          </p:cNvPr>
          <p:cNvSpPr/>
          <p:nvPr/>
        </p:nvSpPr>
        <p:spPr>
          <a:xfrm>
            <a:off x="5881343" y="1475966"/>
            <a:ext cx="904461" cy="765299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EA9456-ED74-0BE4-2290-344EF79FB65C}"/>
              </a:ext>
            </a:extLst>
          </p:cNvPr>
          <p:cNvSpPr/>
          <p:nvPr/>
        </p:nvSpPr>
        <p:spPr>
          <a:xfrm>
            <a:off x="7542841" y="1480929"/>
            <a:ext cx="904461" cy="7652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9072BC-8326-D1D9-D952-B319B0E37190}"/>
              </a:ext>
            </a:extLst>
          </p:cNvPr>
          <p:cNvSpPr/>
          <p:nvPr/>
        </p:nvSpPr>
        <p:spPr>
          <a:xfrm>
            <a:off x="9222553" y="1475967"/>
            <a:ext cx="904461" cy="7652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C9073-7C33-51A1-F414-464A63A6CF5F}"/>
              </a:ext>
            </a:extLst>
          </p:cNvPr>
          <p:cNvSpPr txBox="1"/>
          <p:nvPr/>
        </p:nvSpPr>
        <p:spPr>
          <a:xfrm>
            <a:off x="554587" y="1673949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19A861-7857-5BCC-C2DF-9846569D7CF5}"/>
              </a:ext>
            </a:extLst>
          </p:cNvPr>
          <p:cNvSpPr txBox="1"/>
          <p:nvPr/>
        </p:nvSpPr>
        <p:spPr>
          <a:xfrm>
            <a:off x="4050009" y="2709392"/>
            <a:ext cx="172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App connects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D07595-403D-B2B7-9D1A-4DCB4ABEF113}"/>
              </a:ext>
            </a:extLst>
          </p:cNvPr>
          <p:cNvCxnSpPr/>
          <p:nvPr/>
        </p:nvCxnSpPr>
        <p:spPr>
          <a:xfrm flipV="1">
            <a:off x="4721556" y="2425477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599603E-56CE-A608-CD8E-939192BE731B}"/>
              </a:ext>
            </a:extLst>
          </p:cNvPr>
          <p:cNvSpPr txBox="1"/>
          <p:nvPr/>
        </p:nvSpPr>
        <p:spPr>
          <a:xfrm>
            <a:off x="1578263" y="4999383"/>
            <a:ext cx="95106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 closed at [A], real time backup stop.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 opens and connects to controller at [B] , record </a:t>
            </a:r>
            <a:r>
              <a:rPr lang="en-US" sz="1600" i="1" dirty="0" err="1">
                <a:solidFill>
                  <a:srgbClr val="FF0000"/>
                </a:solidFill>
              </a:rPr>
              <a:t>T_connect</a:t>
            </a:r>
            <a:r>
              <a:rPr lang="en-US" sz="1600" i="1" dirty="0">
                <a:solidFill>
                  <a:srgbClr val="FF0000"/>
                </a:solidFill>
              </a:rPr>
              <a:t> (connected time)</a:t>
            </a:r>
            <a:r>
              <a:rPr lang="en-US" sz="1600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backup starts from </a:t>
            </a:r>
            <a:r>
              <a:rPr lang="en-US" sz="1600" i="1" dirty="0" err="1">
                <a:solidFill>
                  <a:srgbClr val="FF0000"/>
                </a:solidFill>
              </a:rPr>
              <a:t>T_connect</a:t>
            </a:r>
            <a:r>
              <a:rPr lang="en-US" sz="1600" i="1" dirty="0">
                <a:solidFill>
                  <a:srgbClr val="FF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During off-pear hour, Regular backup starts to load missing data from [A] to </a:t>
            </a:r>
            <a:r>
              <a:rPr lang="en-US" sz="1600" i="1" dirty="0" err="1">
                <a:solidFill>
                  <a:srgbClr val="FF0000"/>
                </a:solidFill>
              </a:rPr>
              <a:t>T_connect</a:t>
            </a:r>
            <a:r>
              <a:rPr lang="en-US" sz="1600" i="1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and fill in database in background.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ensure the missing data requested and real-time data are not overlap and duplicate.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606D57-2972-8FBC-D8C7-0D2237F67ACB}"/>
              </a:ext>
            </a:extLst>
          </p:cNvPr>
          <p:cNvCxnSpPr/>
          <p:nvPr/>
        </p:nvCxnSpPr>
        <p:spPr>
          <a:xfrm flipV="1">
            <a:off x="2999461" y="2371735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9FDF05D-B90A-8E6E-AF16-F06751EB2E5C}"/>
              </a:ext>
            </a:extLst>
          </p:cNvPr>
          <p:cNvSpPr txBox="1"/>
          <p:nvPr/>
        </p:nvSpPr>
        <p:spPr>
          <a:xfrm>
            <a:off x="2479306" y="2656330"/>
            <a:ext cx="172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App closed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B436DC-62D0-23B5-3282-A5CBF5B2FF37}"/>
              </a:ext>
            </a:extLst>
          </p:cNvPr>
          <p:cNvSpPr txBox="1"/>
          <p:nvPr/>
        </p:nvSpPr>
        <p:spPr>
          <a:xfrm>
            <a:off x="2521919" y="3130026"/>
            <a:ext cx="172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rgbClr val="FF0000"/>
                </a:solidFill>
              </a:rPr>
              <a:t>lastLocal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C52AEA-9A28-2945-A899-5796AC47CA96}"/>
              </a:ext>
            </a:extLst>
          </p:cNvPr>
          <p:cNvSpPr txBox="1"/>
          <p:nvPr/>
        </p:nvSpPr>
        <p:spPr>
          <a:xfrm>
            <a:off x="4214423" y="3087365"/>
            <a:ext cx="172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rgbClr val="FF0000"/>
                </a:solidFill>
              </a:rPr>
              <a:t>T_connect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610067B-5D73-7C86-F1DE-C4304224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69" y="262793"/>
            <a:ext cx="10515600" cy="79438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333333"/>
                </a:solidFill>
              </a:rPr>
              <a:t>Design</a:t>
            </a:r>
            <a:r>
              <a:rPr lang="zh-CN" altLang="en-US" sz="2400" b="1" dirty="0">
                <a:solidFill>
                  <a:srgbClr val="333333"/>
                </a:solidFill>
              </a:rPr>
              <a:t> </a:t>
            </a:r>
            <a:r>
              <a:rPr lang="en-US" altLang="zh-CN" sz="2400" b="1" dirty="0">
                <a:solidFill>
                  <a:srgbClr val="333333"/>
                </a:solidFill>
              </a:rPr>
              <a:t>2 – Store all data to DB, sort the DB based on timestamp later (Backup)</a:t>
            </a:r>
            <a:endParaRPr lang="en-US" sz="2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8C90A3-658D-10CF-DEC4-18E0694670BC}"/>
              </a:ext>
            </a:extLst>
          </p:cNvPr>
          <p:cNvCxnSpPr>
            <a:cxnSpLocks/>
          </p:cNvCxnSpPr>
          <p:nvPr/>
        </p:nvCxnSpPr>
        <p:spPr>
          <a:xfrm flipV="1">
            <a:off x="4721556" y="3630684"/>
            <a:ext cx="6469905" cy="11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65B3FC-48BC-22E4-5291-00CF4ECCABDB}"/>
              </a:ext>
            </a:extLst>
          </p:cNvPr>
          <p:cNvCxnSpPr>
            <a:cxnSpLocks/>
          </p:cNvCxnSpPr>
          <p:nvPr/>
        </p:nvCxnSpPr>
        <p:spPr>
          <a:xfrm>
            <a:off x="7781957" y="4190772"/>
            <a:ext cx="23450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0E1C29D-674C-20F3-D9C2-71B0EDF6C5B7}"/>
              </a:ext>
            </a:extLst>
          </p:cNvPr>
          <p:cNvSpPr txBox="1"/>
          <p:nvPr/>
        </p:nvSpPr>
        <p:spPr>
          <a:xfrm>
            <a:off x="4721556" y="3630684"/>
            <a:ext cx="3268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A73E8"/>
                </a:solidFill>
              </a:rPr>
              <a:t>Real-time backup → MAIN DB  until disconnect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F78D3C-A5DB-EBDA-14DF-C6F37B001B36}"/>
              </a:ext>
            </a:extLst>
          </p:cNvPr>
          <p:cNvSpPr txBox="1"/>
          <p:nvPr/>
        </p:nvSpPr>
        <p:spPr>
          <a:xfrm>
            <a:off x="7725248" y="4225896"/>
            <a:ext cx="2905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E65C00"/>
                </a:solidFill>
              </a:rPr>
              <a:t>Regular backup </a:t>
            </a:r>
          </a:p>
          <a:p>
            <a:r>
              <a:rPr lang="en-US" sz="1400" b="1" dirty="0">
                <a:solidFill>
                  <a:srgbClr val="E65C00"/>
                </a:solidFill>
              </a:rPr>
              <a:t>[</a:t>
            </a:r>
            <a:r>
              <a:rPr lang="en-US" sz="1400" b="1" dirty="0" err="1">
                <a:solidFill>
                  <a:srgbClr val="E65C00"/>
                </a:solidFill>
              </a:rPr>
              <a:t>lastLocal→T_connect</a:t>
            </a:r>
            <a:r>
              <a:rPr lang="en-US" sz="1400" b="1" dirty="0">
                <a:solidFill>
                  <a:srgbClr val="E65C00"/>
                </a:solidFill>
              </a:rPr>
              <a:t>] → MAIN DB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4D406D7-ECAA-B13D-5E89-FE7BF40214B8}"/>
              </a:ext>
            </a:extLst>
          </p:cNvPr>
          <p:cNvCxnSpPr>
            <a:cxnSpLocks/>
          </p:cNvCxnSpPr>
          <p:nvPr/>
        </p:nvCxnSpPr>
        <p:spPr>
          <a:xfrm>
            <a:off x="4721556" y="3395142"/>
            <a:ext cx="0" cy="131885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BD29F54-B508-62CF-B4ED-0580ACF07C8C}"/>
              </a:ext>
            </a:extLst>
          </p:cNvPr>
          <p:cNvSpPr txBox="1"/>
          <p:nvPr/>
        </p:nvSpPr>
        <p:spPr>
          <a:xfrm>
            <a:off x="10305339" y="2656478"/>
            <a:ext cx="1886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Sort the </a:t>
            </a:r>
            <a:r>
              <a:rPr lang="en-US" sz="1200" dirty="0" err="1"/>
              <a:t>db</a:t>
            </a:r>
            <a:r>
              <a:rPr lang="en-US" sz="1200" dirty="0"/>
              <a:t> timestamp daily/weekly, or when user download the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DE4E58-F6E7-17A2-CE8B-9A8C4DDD87EF}"/>
              </a:ext>
            </a:extLst>
          </p:cNvPr>
          <p:cNvSpPr txBox="1"/>
          <p:nvPr/>
        </p:nvSpPr>
        <p:spPr>
          <a:xfrm>
            <a:off x="7311384" y="1068217"/>
            <a:ext cx="17223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333333"/>
                </a:solidFill>
              </a:rPr>
              <a:t>Next day, 12am (off peak)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151227-D44C-27BF-7FBC-8CBEA0CA4550}"/>
              </a:ext>
            </a:extLst>
          </p:cNvPr>
          <p:cNvCxnSpPr>
            <a:cxnSpLocks/>
          </p:cNvCxnSpPr>
          <p:nvPr/>
        </p:nvCxnSpPr>
        <p:spPr>
          <a:xfrm>
            <a:off x="7725248" y="4153904"/>
            <a:ext cx="0" cy="595212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257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DCAB-0328-3FA5-A5E1-5C5080BD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7867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How to make the final DB chronological order for logic 2?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0D6FD-0DAA-95C9-C2D7-0B536413D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new table in chronological order using “order by date”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Delete the old table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Rename the new table into original naming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 TABLE </a:t>
            </a:r>
            <a:r>
              <a:rPr lang="en-US" sz="2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new_trend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AS SELECT * FROM trend ORDER BY date, id; 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DROP TABLE trend; 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ALTER TABLE </a:t>
            </a:r>
            <a:r>
              <a:rPr lang="en-US" sz="2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new_trend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RENAME TO trend;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4945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E3D0-58EA-37D0-A83D-F9FCB282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Initial Setup &amp; Ongoing Backup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BC9BF-DF49-B0F1-7772-D8F9847F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095"/>
            <a:ext cx="436132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Phase 1 – Initial Full Backup (First-time setup)</a:t>
            </a:r>
          </a:p>
          <a:p>
            <a:pPr marL="0" indent="0">
              <a:buNone/>
            </a:pPr>
            <a:endParaRPr lang="en-US" sz="1600" b="1" dirty="0"/>
          </a:p>
          <a:p>
            <a:r>
              <a:rPr lang="en-US" sz="1600" dirty="0"/>
              <a:t>Download complete historical data from controller</a:t>
            </a:r>
          </a:p>
          <a:p>
            <a:r>
              <a:rPr lang="en-US" sz="1600" dirty="0"/>
              <a:t>Transport: FTP over LAN</a:t>
            </a:r>
          </a:p>
          <a:p>
            <a:r>
              <a:rPr lang="en-US" sz="1600" dirty="0"/>
              <a:t>Files: </a:t>
            </a:r>
            <a:r>
              <a:rPr lang="en-US" sz="1600" dirty="0" err="1"/>
              <a:t>history.db</a:t>
            </a:r>
            <a:r>
              <a:rPr lang="en-US" sz="1600" dirty="0"/>
              <a:t>, </a:t>
            </a:r>
            <a:r>
              <a:rPr lang="en-US" sz="1600" dirty="0" err="1"/>
              <a:t>meter.db</a:t>
            </a:r>
            <a:r>
              <a:rPr lang="en-US" sz="1600" dirty="0"/>
              <a:t>, </a:t>
            </a:r>
            <a:r>
              <a:rPr lang="en-US" sz="1600" dirty="0" err="1"/>
              <a:t>optime.db</a:t>
            </a:r>
            <a:r>
              <a:rPr lang="en-US" sz="1600" dirty="0"/>
              <a:t>, </a:t>
            </a:r>
            <a:r>
              <a:rPr lang="en-US" sz="1600" dirty="0" err="1"/>
              <a:t>trend.db</a:t>
            </a:r>
            <a:r>
              <a:rPr lang="en-US" sz="1600" dirty="0"/>
              <a:t>, </a:t>
            </a:r>
            <a:r>
              <a:rPr lang="en-US" sz="1600" dirty="0" err="1"/>
              <a:t>ppd.db</a:t>
            </a:r>
            <a:endParaRPr lang="en-US" sz="1600" dirty="0"/>
          </a:p>
          <a:p>
            <a:endParaRPr lang="en-US" sz="1600" dirty="0"/>
          </a:p>
          <a:p>
            <a:pPr>
              <a:defRPr sz="1400"/>
            </a:pPr>
            <a:r>
              <a:rPr lang="en-US" sz="1600" dirty="0"/>
              <a:t>After download: scan the latest timestamp per DB, set as the starting point for incremental backup.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90BF-1BCE-793B-9544-7865321AFFCC}"/>
              </a:ext>
            </a:extLst>
          </p:cNvPr>
          <p:cNvSpPr txBox="1">
            <a:spLocks/>
          </p:cNvSpPr>
          <p:nvPr/>
        </p:nvSpPr>
        <p:spPr>
          <a:xfrm>
            <a:off x="6360459" y="1960095"/>
            <a:ext cx="436132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Phase 2 – Ongoing Incremental Backup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/>
          </a:p>
          <a:p>
            <a:r>
              <a:rPr lang="en-US" sz="1600" dirty="0"/>
              <a:t>Transfer new records continuously</a:t>
            </a:r>
          </a:p>
          <a:p>
            <a:r>
              <a:rPr lang="en-US" sz="1600" dirty="0"/>
              <a:t>Transport: </a:t>
            </a:r>
            <a:r>
              <a:rPr lang="en-US" sz="1600" dirty="0" err="1"/>
              <a:t>Websocket</a:t>
            </a:r>
            <a:r>
              <a:rPr lang="en-US" sz="1600" dirty="0"/>
              <a:t> (LAN and Cloud)</a:t>
            </a:r>
          </a:p>
          <a:p>
            <a:r>
              <a:rPr lang="en-US" sz="1600" dirty="0"/>
              <a:t>Files: </a:t>
            </a:r>
            <a:r>
              <a:rPr lang="en-US" sz="1600" dirty="0" err="1"/>
              <a:t>history.db</a:t>
            </a:r>
            <a:r>
              <a:rPr lang="en-US" sz="1600" dirty="0"/>
              <a:t>, </a:t>
            </a:r>
            <a:r>
              <a:rPr lang="en-US" sz="1600" dirty="0" err="1"/>
              <a:t>meter.db</a:t>
            </a:r>
            <a:r>
              <a:rPr lang="en-US" sz="1600" dirty="0"/>
              <a:t>, </a:t>
            </a:r>
            <a:r>
              <a:rPr lang="en-US" sz="1600" dirty="0" err="1"/>
              <a:t>optime.db</a:t>
            </a:r>
            <a:r>
              <a:rPr lang="en-US" sz="1600" dirty="0"/>
              <a:t>, </a:t>
            </a:r>
            <a:r>
              <a:rPr lang="en-US" sz="1600" dirty="0" err="1"/>
              <a:t>trend.db</a:t>
            </a:r>
            <a:r>
              <a:rPr lang="en-US" sz="1600" dirty="0"/>
              <a:t>, </a:t>
            </a:r>
            <a:r>
              <a:rPr lang="en-US" sz="1600" dirty="0" err="1"/>
              <a:t>ppd.db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>
              <a:defRPr sz="1400"/>
            </a:pPr>
            <a:r>
              <a:rPr lang="en-US" sz="1600" dirty="0"/>
              <a:t>Method: Regular backup (pull) + Real-time backup (push) as described in the core design.	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B3DFB7-04FB-228B-7304-77857BEC0C5B}"/>
              </a:ext>
            </a:extLst>
          </p:cNvPr>
          <p:cNvSpPr/>
          <p:nvPr/>
        </p:nvSpPr>
        <p:spPr>
          <a:xfrm>
            <a:off x="5925669" y="1690688"/>
            <a:ext cx="5109883" cy="47370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B589DE-7354-3ADB-9A49-5D680653B66A}"/>
              </a:ext>
            </a:extLst>
          </p:cNvPr>
          <p:cNvSpPr/>
          <p:nvPr/>
        </p:nvSpPr>
        <p:spPr>
          <a:xfrm>
            <a:off x="421340" y="1690688"/>
            <a:ext cx="5020236" cy="47370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62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3C52B2-12CB-3BC8-D082-8EDD0E081B95}"/>
              </a:ext>
            </a:extLst>
          </p:cNvPr>
          <p:cNvSpPr/>
          <p:nvPr/>
        </p:nvSpPr>
        <p:spPr>
          <a:xfrm>
            <a:off x="6693011" y="2592761"/>
            <a:ext cx="5029200" cy="1913642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26B8-F980-E657-FC5B-3756AF380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411" y="185185"/>
            <a:ext cx="10515600" cy="1325563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333333"/>
                </a:solidFill>
                <a:latin typeface="+mn-lt"/>
              </a:rPr>
              <a:t>Smart Reconnect + </a:t>
            </a:r>
            <a:r>
              <a:rPr lang="en-US" sz="2800" b="1" dirty="0">
                <a:solidFill>
                  <a:srgbClr val="333333"/>
                </a:solidFill>
                <a:latin typeface="+mn-lt"/>
              </a:rPr>
              <a:t>Backup</a:t>
            </a:r>
            <a:r>
              <a:rPr sz="2800" b="1" dirty="0">
                <a:solidFill>
                  <a:srgbClr val="333333"/>
                </a:solidFill>
                <a:latin typeface="+mn-lt"/>
              </a:rPr>
              <a:t> Timing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7FB43A-5A5C-262B-ADFA-B4BF03BEC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616249"/>
              </p:ext>
            </p:extLst>
          </p:nvPr>
        </p:nvGraphicFramePr>
        <p:xfrm>
          <a:off x="749411" y="2059071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73E8"/>
                          </a:solidFill>
                          <a:latin typeface="Calibri"/>
                        </a:defRPr>
                      </a:pPr>
                      <a:r>
                        <a:rPr dirty="0"/>
                        <a:t>DB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73E8"/>
                          </a:solidFill>
                          <a:latin typeface="Calibri"/>
                        </a:defRPr>
                      </a:pPr>
                      <a:r>
                        <a:t>Interval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Regular Backup Needed If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dirty="0"/>
                        <a:t>Trend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5 min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Any write point missed during gap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PPD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Any write point missed during gap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Optime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dirty="0"/>
                        <a:t>15 min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Any write point missed during gap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dirty="0"/>
                        <a:t>Meter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dirty="0"/>
                        <a:t>15 min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Any write point missed during gap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History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Event-based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rPr dirty="0"/>
                        <a:t>Any event occurred during gap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7F2E5F2-9478-D3F7-45A8-06863410D7A7}"/>
              </a:ext>
            </a:extLst>
          </p:cNvPr>
          <p:cNvSpPr txBox="1"/>
          <p:nvPr/>
        </p:nvSpPr>
        <p:spPr>
          <a:xfrm>
            <a:off x="749411" y="146502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rPr sz="1400" b="1" dirty="0">
                <a:solidFill>
                  <a:srgbClr val="333333"/>
                </a:solidFill>
              </a:rPr>
              <a:t>Storage Intervals &amp; Gap Thresholds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CA60B-F978-75DD-6D1D-C4B5A8C2CB0C}"/>
              </a:ext>
            </a:extLst>
          </p:cNvPr>
          <p:cNvSpPr txBox="1"/>
          <p:nvPr/>
        </p:nvSpPr>
        <p:spPr>
          <a:xfrm>
            <a:off x="6693011" y="212928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84E"/>
                </a:solidFill>
                <a:latin typeface="Calibri"/>
              </a:defRPr>
            </a:pPr>
            <a:r>
              <a:rPr sz="1400" b="1" dirty="0"/>
              <a:t>Smart Reconnect Logi</a:t>
            </a:r>
            <a:r>
              <a:rPr lang="en-US" sz="1400" b="1" dirty="0"/>
              <a:t>c</a:t>
            </a:r>
            <a:endParaRPr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F95F5-8F8D-F80A-907E-CB528EA8B3F4}"/>
              </a:ext>
            </a:extLst>
          </p:cNvPr>
          <p:cNvSpPr txBox="1"/>
          <p:nvPr/>
        </p:nvSpPr>
        <p:spPr>
          <a:xfrm>
            <a:off x="6875891" y="2266440"/>
            <a:ext cx="50292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400" b="1" dirty="0">
              <a:solidFill>
                <a:srgbClr val="0D9638"/>
              </a:solidFill>
            </a:endParaRPr>
          </a:p>
          <a:p>
            <a:pPr algn="l"/>
            <a:endParaRPr sz="1400" b="1" dirty="0">
              <a:solidFill>
                <a:srgbClr val="0D9638"/>
              </a:solidFill>
            </a:endParaRPr>
          </a:p>
          <a:p>
            <a:pPr>
              <a:defRPr sz="900" b="1">
                <a:solidFill>
                  <a:srgbClr val="C00000"/>
                </a:solidFill>
              </a:defRPr>
            </a:pPr>
            <a:r>
              <a:rPr sz="1050" dirty="0"/>
              <a:t>Based on whether a data write occurred during the gap.</a:t>
            </a:r>
          </a:p>
          <a:p>
            <a:pPr>
              <a:defRPr sz="900"/>
            </a:pPr>
            <a:endParaRPr sz="1050" dirty="0"/>
          </a:p>
          <a:p>
            <a:pPr>
              <a:defRPr sz="900"/>
            </a:pPr>
            <a:r>
              <a:rPr sz="1050" dirty="0"/>
              <a:t>Check: compare </a:t>
            </a:r>
            <a:r>
              <a:rPr sz="1050" dirty="0" err="1"/>
              <a:t>lastLocal</a:t>
            </a:r>
            <a:r>
              <a:rPr sz="1050" dirty="0"/>
              <a:t> (before disconnect)</a:t>
            </a:r>
          </a:p>
          <a:p>
            <a:pPr>
              <a:defRPr sz="900"/>
            </a:pPr>
            <a:r>
              <a:rPr sz="1050" dirty="0"/>
              <a:t>vs first data received after reconnect.</a:t>
            </a:r>
          </a:p>
          <a:p>
            <a:pPr>
              <a:defRPr sz="900"/>
            </a:pPr>
            <a:endParaRPr sz="1050" dirty="0"/>
          </a:p>
          <a:p>
            <a:pPr>
              <a:defRPr sz="900" b="1"/>
            </a:pPr>
            <a:r>
              <a:rPr sz="1050" dirty="0"/>
              <a:t>If consecutive (no missing point) → no data missed</a:t>
            </a:r>
          </a:p>
          <a:p>
            <a:pPr>
              <a:defRPr sz="900"/>
            </a:pPr>
            <a:r>
              <a:rPr sz="1050" dirty="0"/>
              <a:t>  → Real-time backup writes to MAIN DB directly.</a:t>
            </a:r>
          </a:p>
          <a:p>
            <a:pPr>
              <a:defRPr sz="900" b="1"/>
            </a:pPr>
            <a:r>
              <a:rPr sz="1050" dirty="0"/>
              <a:t>If gap in sequence → data missed</a:t>
            </a:r>
          </a:p>
          <a:p>
            <a:pPr>
              <a:defRPr sz="900"/>
            </a:pPr>
            <a:r>
              <a:rPr sz="1050" dirty="0"/>
              <a:t>  → Real-time backup writes to TEMP DB,</a:t>
            </a:r>
          </a:p>
          <a:p>
            <a:pPr>
              <a:defRPr sz="900"/>
            </a:pPr>
            <a:r>
              <a:rPr sz="1050" dirty="0"/>
              <a:t>     schedule Regular Backup to fill gap.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42345DC6-E8A2-3B12-C5C4-F26423FAC25D}"/>
              </a:ext>
            </a:extLst>
          </p:cNvPr>
          <p:cNvSpPr txBox="1"/>
          <p:nvPr/>
        </p:nvSpPr>
        <p:spPr>
          <a:xfrm>
            <a:off x="749411" y="4506403"/>
            <a:ext cx="10972800" cy="307777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rPr sz="1400" b="1" dirty="0">
                <a:latin typeface="+mn-lt"/>
              </a:rPr>
              <a:t>Example Scenarios — Smart Reconnect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96AD2E2-BB43-212B-0A23-6FBFD098A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438686"/>
              </p:ext>
            </p:extLst>
          </p:nvPr>
        </p:nvGraphicFramePr>
        <p:xfrm>
          <a:off x="703691" y="4872163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Trend (5m)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PPD (15m)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Meter (15m)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Disconnect 15:32</a:t>
                      </a:r>
                    </a:p>
                    <a:p>
                      <a:pPr>
                        <a:defRPr sz="900" b="0"/>
                      </a:pPr>
                      <a:r>
                        <a:t>Reconnect 15:34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write in gap</a:t>
                      </a:r>
                    </a:p>
                    <a:p>
                      <a:pPr>
                        <a:defRPr sz="900" b="0"/>
                      </a:pPr>
                      <a:r>
                        <a:t>(15:30, 15:35)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write in gap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write in gap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data missed → Real-time backup writes to MAIN DB directly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Disconnect 15:29</a:t>
                      </a:r>
                    </a:p>
                    <a:p>
                      <a:pPr>
                        <a:defRPr sz="900" b="0"/>
                      </a:pPr>
                      <a:r>
                        <a:t>Reconnect 15:32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rPr dirty="0"/>
                        <a:t>15:30 missed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write in gap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write in gap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Data missed → Real-time backup → TEMP DB;</a:t>
                      </a:r>
                    </a:p>
                    <a:p>
                      <a:pPr>
                        <a:defRPr sz="900" b="0"/>
                      </a:pPr>
                      <a:r>
                        <a:t>Schedule Regular Backup for trend gap-fill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Disconnected 2 hours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24 missed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 missed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 missed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Real-time backup → TEMP DB;</a:t>
                      </a:r>
                    </a:p>
                    <a:p>
                      <a:pPr>
                        <a:defRPr sz="900" b="0"/>
                      </a:pPr>
                      <a:r>
                        <a:t>Schedule Regular Backup for all DBs (off-peak)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Disconnected 3 days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864 missed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288 missed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288 missed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rPr dirty="0"/>
                        <a:t>Real-time backup → TEMP DB;</a:t>
                      </a:r>
                    </a:p>
                    <a:p>
                      <a:pPr>
                        <a:defRPr sz="900" b="0"/>
                      </a:pPr>
                      <a:r>
                        <a:rPr dirty="0"/>
                        <a:t>Schedule Regular Backup (chunked, off-peak)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9DE91B9-4793-06FE-655A-A8AC32800718}"/>
              </a:ext>
            </a:extLst>
          </p:cNvPr>
          <p:cNvSpPr txBox="1"/>
          <p:nvPr/>
        </p:nvSpPr>
        <p:spPr>
          <a:xfrm>
            <a:off x="6875891" y="309823"/>
            <a:ext cx="466344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1A73E8"/>
                </a:solidFill>
              </a:rPr>
              <a:t>Backup</a:t>
            </a:r>
            <a:r>
              <a:rPr sz="1400" b="1" dirty="0">
                <a:solidFill>
                  <a:srgbClr val="1A73E8"/>
                </a:solidFill>
              </a:rPr>
              <a:t> Timing — Request Offsets</a:t>
            </a:r>
          </a:p>
          <a:p>
            <a:pPr algn="l"/>
            <a:endParaRPr sz="1400" b="1" dirty="0">
              <a:solidFill>
                <a:srgbClr val="1A73E8"/>
              </a:solidFill>
            </a:endParaRPr>
          </a:p>
          <a:p>
            <a:pPr algn="l"/>
            <a:r>
              <a:rPr sz="1100" b="0" dirty="0">
                <a:solidFill>
                  <a:srgbClr val="333333"/>
                </a:solidFill>
              </a:rPr>
              <a:t>Controller writes data at :XX:00 seconds.</a:t>
            </a:r>
          </a:p>
          <a:p>
            <a:pPr algn="l"/>
            <a:r>
              <a:rPr sz="1100" b="1" dirty="0">
                <a:solidFill>
                  <a:srgbClr val="E65C00"/>
                </a:solidFill>
              </a:rPr>
              <a:t>Backup requests offset to :XX:30 (30s after).</a:t>
            </a:r>
          </a:p>
          <a:p>
            <a:pPr algn="l"/>
            <a:endParaRPr sz="1100" b="1" dirty="0">
              <a:solidFill>
                <a:srgbClr val="E65C00"/>
              </a:solidFill>
            </a:endParaRPr>
          </a:p>
          <a:p>
            <a:pPr algn="l"/>
            <a:r>
              <a:rPr sz="1100" b="0" dirty="0">
                <a:solidFill>
                  <a:srgbClr val="333333"/>
                </a:solidFill>
              </a:rPr>
              <a:t>Trend: 15:00:30, 15:05:30, 15:10:30 ...</a:t>
            </a:r>
          </a:p>
          <a:p>
            <a:pPr algn="l"/>
            <a:r>
              <a:rPr sz="1100" b="0" dirty="0">
                <a:solidFill>
                  <a:srgbClr val="333333"/>
                </a:solidFill>
              </a:rPr>
              <a:t>PPD/Optime/Meter: 15:00:30, 15:15:30 ...</a:t>
            </a:r>
          </a:p>
          <a:p>
            <a:pPr algn="l"/>
            <a:r>
              <a:rPr sz="1100" b="1" dirty="0">
                <a:solidFill>
                  <a:srgbClr val="C62828"/>
                </a:solidFill>
              </a:rPr>
              <a:t>Avoids conflict with controller data-write.</a:t>
            </a:r>
          </a:p>
        </p:txBody>
      </p:sp>
    </p:spTree>
    <p:extLst>
      <p:ext uri="{BB962C8B-B14F-4D97-AF65-F5344CB8AC3E}">
        <p14:creationId xmlns:p14="http://schemas.microsoft.com/office/powerpoint/2010/main" val="2341590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411" y="185185"/>
            <a:ext cx="105156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rPr dirty="0"/>
              <a:t>How to Detect Missed Data on Reconnect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411" y="900000"/>
            <a:ext cx="5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3333"/>
                </a:solidFill>
              </a:defRPr>
            </a:pPr>
            <a:r>
              <a:rPr dirty="0"/>
              <a:t>Detection Steps (per DB type):</a:t>
            </a:r>
          </a:p>
          <a:p>
            <a:pPr>
              <a:defRPr sz="8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rPr dirty="0"/>
              <a:t>1. Before disconnect, record: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   </a:t>
            </a:r>
            <a:r>
              <a:rPr dirty="0" err="1"/>
              <a:t>lastLocal</a:t>
            </a:r>
            <a:r>
              <a:rPr dirty="0"/>
              <a:t> = timestamp of last data received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100" b="0">
                <a:solidFill>
                  <a:srgbClr val="333333"/>
                </a:solidFill>
              </a:defRPr>
            </a:pPr>
            <a:r>
              <a:rPr dirty="0"/>
              <a:t>2. On reconnect, real-time backup resumes.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   Wait for first new data from controller.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rPr dirty="0"/>
              <a:t>3. Compare timestamps: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   </a:t>
            </a:r>
            <a:r>
              <a:rPr dirty="0" err="1"/>
              <a:t>firstNew</a:t>
            </a:r>
            <a:r>
              <a:rPr dirty="0"/>
              <a:t> = timestamp of first data after reconnect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rPr dirty="0"/>
              <a:t>4. Decision:</a:t>
            </a:r>
          </a:p>
          <a:p>
            <a:pPr>
              <a:defRPr sz="4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000" b="1">
                <a:solidFill>
                  <a:srgbClr val="4472C4"/>
                </a:solidFill>
              </a:defRPr>
            </a:pPr>
            <a:r>
              <a:rPr dirty="0"/>
              <a:t>   For interval-based (Trend, PPD, Optime, Meter):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   </a:t>
            </a:r>
            <a:r>
              <a:rPr dirty="0" err="1"/>
              <a:t>expected_next</a:t>
            </a:r>
            <a:r>
              <a:rPr dirty="0"/>
              <a:t> = </a:t>
            </a:r>
            <a:r>
              <a:rPr dirty="0" err="1"/>
              <a:t>lastLocal</a:t>
            </a:r>
            <a:r>
              <a:rPr dirty="0"/>
              <a:t> + interval</a:t>
            </a:r>
          </a:p>
          <a:p>
            <a:pPr>
              <a:defRPr sz="1000" b="0">
                <a:solidFill>
                  <a:srgbClr val="008000"/>
                </a:solidFill>
              </a:defRPr>
            </a:pPr>
            <a:r>
              <a:rPr dirty="0"/>
              <a:t>   If </a:t>
            </a:r>
            <a:r>
              <a:rPr dirty="0" err="1"/>
              <a:t>firstNew</a:t>
            </a:r>
            <a:r>
              <a:rPr dirty="0"/>
              <a:t> == </a:t>
            </a:r>
            <a:r>
              <a:rPr dirty="0" err="1"/>
              <a:t>expected_next</a:t>
            </a:r>
            <a:r>
              <a:rPr dirty="0"/>
              <a:t> → NO miss</a:t>
            </a:r>
          </a:p>
          <a:p>
            <a:pPr>
              <a:defRPr sz="1000" b="0">
                <a:solidFill>
                  <a:srgbClr val="C00000"/>
                </a:solidFill>
              </a:defRPr>
            </a:pPr>
            <a:r>
              <a:rPr dirty="0"/>
              <a:t>   If </a:t>
            </a:r>
            <a:r>
              <a:rPr dirty="0" err="1"/>
              <a:t>firstNew</a:t>
            </a:r>
            <a:r>
              <a:rPr dirty="0"/>
              <a:t> &gt; </a:t>
            </a:r>
            <a:r>
              <a:rPr dirty="0" err="1"/>
              <a:t>expected_next</a:t>
            </a:r>
            <a:r>
              <a:rPr dirty="0"/>
              <a:t> → data MISSED</a:t>
            </a:r>
          </a:p>
          <a:p>
            <a:pPr>
              <a:defRPr sz="4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000" b="1">
                <a:solidFill>
                  <a:srgbClr val="4472C4"/>
                </a:solidFill>
              </a:defRPr>
            </a:pPr>
            <a:r>
              <a:rPr dirty="0"/>
              <a:t>   For event-based (History):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   Query controller: any events between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   </a:t>
            </a:r>
            <a:r>
              <a:rPr dirty="0" err="1"/>
              <a:t>lastLocal</a:t>
            </a:r>
            <a:r>
              <a:rPr dirty="0"/>
              <a:t> and </a:t>
            </a:r>
            <a:r>
              <a:rPr dirty="0" err="1"/>
              <a:t>T_connect</a:t>
            </a:r>
            <a:r>
              <a:rPr dirty="0"/>
              <a:t>?</a:t>
            </a:r>
          </a:p>
          <a:p>
            <a:pPr>
              <a:defRPr sz="1000" b="0">
                <a:solidFill>
                  <a:srgbClr val="C00000"/>
                </a:solidFill>
              </a:defRPr>
            </a:pPr>
            <a:r>
              <a:rPr dirty="0"/>
              <a:t>   If yes → data MISSED</a:t>
            </a:r>
          </a:p>
          <a:p>
            <a:pPr>
              <a:defRPr sz="1000" b="0">
                <a:solidFill>
                  <a:srgbClr val="008000"/>
                </a:solidFill>
              </a:defRPr>
            </a:pPr>
            <a:r>
              <a:rPr dirty="0"/>
              <a:t>   If no → NO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00000" y="900000"/>
            <a:ext cx="53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8000"/>
                </a:solidFill>
              </a:defRPr>
            </a:pPr>
            <a:r>
              <a:rPr dirty="0"/>
              <a:t>Example 1: No Miss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Trend interval = 5 min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 err="1"/>
              <a:t>lastLocal</a:t>
            </a:r>
            <a:r>
              <a:rPr dirty="0"/>
              <a:t> = 15:30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/>
              <a:t>Disconnect at 15:32, reconnect at 15:34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/>
              <a:t>First real-time data received: 15:35</a:t>
            </a:r>
          </a:p>
          <a:p>
            <a:pPr>
              <a:defRPr sz="4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 err="1"/>
              <a:t>expected_next</a:t>
            </a:r>
            <a:r>
              <a:rPr dirty="0"/>
              <a:t> = 15:30 + 5min = 15:35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 err="1"/>
              <a:t>firstNew</a:t>
            </a:r>
            <a:r>
              <a:rPr dirty="0"/>
              <a:t> (15:35) == </a:t>
            </a:r>
            <a:r>
              <a:rPr dirty="0" err="1"/>
              <a:t>expected_next</a:t>
            </a:r>
            <a:r>
              <a:rPr dirty="0"/>
              <a:t> (15:35)</a:t>
            </a:r>
          </a:p>
          <a:p>
            <a:pPr>
              <a:defRPr sz="1000" b="1">
                <a:solidFill>
                  <a:srgbClr val="008000"/>
                </a:solidFill>
              </a:defRPr>
            </a:pPr>
            <a:r>
              <a:rPr dirty="0"/>
              <a:t>→ NO miss. Real-time backup → MAIN DB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800" b="0">
                <a:solidFill>
                  <a:srgbClr val="CCCCCC"/>
                </a:solidFill>
              </a:defRPr>
            </a:pPr>
            <a:r>
              <a:rPr dirty="0"/>
              <a:t>━━━━━━━━━━━━━━━━━━━━━━━━━━━━━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300" b="1">
                <a:solidFill>
                  <a:srgbClr val="C00000"/>
                </a:solidFill>
              </a:defRPr>
            </a:pPr>
            <a:r>
              <a:rPr dirty="0"/>
              <a:t>Example 2: Data Missed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Trend interval = 5 min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 err="1"/>
              <a:t>lastLocal</a:t>
            </a:r>
            <a:r>
              <a:rPr dirty="0"/>
              <a:t> = 15:25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/>
              <a:t>Disconnect at 15:29, reconnect at 15:32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/>
              <a:t>First real-time data received: 15:35</a:t>
            </a:r>
          </a:p>
          <a:p>
            <a:pPr>
              <a:defRPr sz="4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 err="1"/>
              <a:t>expected_next</a:t>
            </a:r>
            <a:r>
              <a:rPr dirty="0"/>
              <a:t> = 15:25 + 5min = 15:30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 err="1"/>
              <a:t>firstNew</a:t>
            </a:r>
            <a:r>
              <a:rPr dirty="0"/>
              <a:t> (15:35) &gt; </a:t>
            </a:r>
            <a:r>
              <a:rPr dirty="0" err="1"/>
              <a:t>expected_next</a:t>
            </a:r>
            <a:r>
              <a:rPr dirty="0"/>
              <a:t> (15:30)</a:t>
            </a:r>
          </a:p>
          <a:p>
            <a:pPr>
              <a:defRPr sz="1000" b="1">
                <a:solidFill>
                  <a:srgbClr val="C00000"/>
                </a:solidFill>
              </a:defRPr>
            </a:pPr>
            <a:r>
              <a:rPr dirty="0"/>
              <a:t>→ 15:30 was MISSED! Real-time backup → TEMP DB</a:t>
            </a:r>
          </a:p>
          <a:p>
            <a:pPr>
              <a:defRPr sz="1000" b="0">
                <a:solidFill>
                  <a:srgbClr val="C00000"/>
                </a:solidFill>
              </a:defRPr>
            </a:pPr>
            <a:r>
              <a:rPr dirty="0"/>
              <a:t>   Schedule Regular Backup for [15:25 → </a:t>
            </a:r>
            <a:r>
              <a:rPr dirty="0" err="1"/>
              <a:t>T_connect</a:t>
            </a:r>
            <a:r>
              <a:rPr dirty="0"/>
              <a:t>]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800" b="0">
                <a:solidFill>
                  <a:srgbClr val="CCCCCC"/>
                </a:solidFill>
              </a:defRPr>
            </a:pPr>
            <a:r>
              <a:rPr dirty="0"/>
              <a:t>━━━━━━━━━━━━━━━━━━━━━━━━━━━━━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300" b="1">
                <a:solidFill>
                  <a:srgbClr val="4472C4"/>
                </a:solidFill>
              </a:defRPr>
            </a:pPr>
            <a:r>
              <a:rPr dirty="0"/>
              <a:t>Example 3: History (event-based)</a:t>
            </a:r>
          </a:p>
          <a:p>
            <a:pPr>
              <a:defRPr sz="600" b="0">
                <a:solidFill>
                  <a:srgbClr val="333333"/>
                </a:solidFill>
              </a:defRPr>
            </a:pPr>
            <a:endParaRPr dirty="0"/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/>
              <a:t>Disconnect at 15:29, reconnect at 15:34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/>
              <a:t>App queries controller:</a:t>
            </a:r>
          </a:p>
          <a:p>
            <a:pPr>
              <a:defRPr sz="1000" b="0">
                <a:solidFill>
                  <a:srgbClr val="555555"/>
                </a:solidFill>
              </a:defRPr>
            </a:pPr>
            <a:r>
              <a:rPr dirty="0"/>
              <a:t>  "Any history events from 15:29 to 15:34?"</a:t>
            </a:r>
          </a:p>
          <a:p>
            <a:pPr>
              <a:defRPr sz="1000" b="0">
                <a:solidFill>
                  <a:srgbClr val="333333"/>
                </a:solidFill>
              </a:defRPr>
            </a:pPr>
            <a:r>
              <a:rPr dirty="0"/>
              <a:t>Controller: Yes, operation at 15:31</a:t>
            </a:r>
          </a:p>
          <a:p>
            <a:pPr>
              <a:defRPr sz="1000" b="1">
                <a:solidFill>
                  <a:srgbClr val="C00000"/>
                </a:solidFill>
              </a:defRPr>
            </a:pPr>
            <a:r>
              <a:rPr dirty="0"/>
              <a:t>→ MISSED! Schedule Regular Backup for history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4D969E-6017-99CA-9E64-8991185237CF}"/>
              </a:ext>
            </a:extLst>
          </p:cNvPr>
          <p:cNvSpPr txBox="1"/>
          <p:nvPr/>
        </p:nvSpPr>
        <p:spPr>
          <a:xfrm>
            <a:off x="609601" y="673768"/>
            <a:ext cx="9263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How to auto-launch an app when Windows starts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248E93-F2B3-5E5D-83AB-3A4631F7696D}"/>
              </a:ext>
            </a:extLst>
          </p:cNvPr>
          <p:cNvSpPr txBox="1">
            <a:spLocks/>
          </p:cNvSpPr>
          <p:nvPr/>
        </p:nvSpPr>
        <p:spPr>
          <a:xfrm>
            <a:off x="1138990" y="1832894"/>
            <a:ext cx="10050379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Use plugin</a:t>
            </a:r>
          </a:p>
          <a:p>
            <a:pPr lvl="1"/>
            <a:r>
              <a:rPr lang="en-US" sz="2000" dirty="0" err="1"/>
              <a:t>launch_at_startup</a:t>
            </a:r>
            <a:endParaRPr lang="en-US" sz="2000" dirty="0"/>
          </a:p>
          <a:p>
            <a:pPr lvl="1"/>
            <a:r>
              <a:rPr lang="en-US" sz="2000" dirty="0"/>
              <a:t>Link: https://</a:t>
            </a:r>
            <a:r>
              <a:rPr lang="en-US" sz="2000" dirty="0" err="1"/>
              <a:t>pub.dev</a:t>
            </a:r>
            <a:r>
              <a:rPr lang="en-US" sz="2000" dirty="0"/>
              <a:t>/packages/</a:t>
            </a:r>
            <a:r>
              <a:rPr lang="en-US" sz="2000" dirty="0" err="1"/>
              <a:t>launch_at_startup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307D6C-82FA-2FE3-BEA0-4BB36DD7D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23" y="3248023"/>
            <a:ext cx="3649377" cy="15913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2076C3-78F3-0C9D-247D-3CABDFB3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653" y="3248023"/>
            <a:ext cx="3886199" cy="15913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055B21-48CB-ACBB-9E18-2AFBE2E83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479" y="5211523"/>
            <a:ext cx="4693653" cy="109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91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E37EEE-C6A1-DAC7-CC49-A10F259CDECF}"/>
              </a:ext>
            </a:extLst>
          </p:cNvPr>
          <p:cNvSpPr/>
          <p:nvPr/>
        </p:nvSpPr>
        <p:spPr>
          <a:xfrm>
            <a:off x="888558" y="5068957"/>
            <a:ext cx="9120146" cy="13716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AE2B09-5B07-B3A7-A3E7-6760B533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9092"/>
          </a:xfrm>
        </p:spPr>
        <p:txBody>
          <a:bodyPr>
            <a:normAutofit/>
          </a:bodyPr>
          <a:lstStyle/>
          <a:p>
            <a:r>
              <a:rPr lang="en-US" sz="3200" dirty="0"/>
              <a:t>Scenario Actions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15C479-B4CE-01BD-338B-CE8F3A203427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0972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73E8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333333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73E8"/>
                          </a:solidFill>
                          <a:latin typeface="Calibri"/>
                        </a:defRPr>
                      </a:pPr>
                      <a:r>
                        <a:rPr sz="1000" b="1">
                          <a:solidFill>
                            <a:srgbClr val="333333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App starts, no gap (smart reconnect)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B → MAIN DB directly. No A needed.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App starts, gap exists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B → TEMP DB; schedule A for off-peak (or manual trigger)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Off-peak arrives / manual trigger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A fills [lastLocal→T_connect] → MAIN DB; flush TEMP → MAIN DB; switch B → MAIN DB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Connection drops briefly (&lt; interval)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Reconnect → smart reconnect → B → MAIN DB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Connection drops for extended period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Reconnect → B → TEMP DB; schedule A for off-peak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User presses 'Run Backup Now'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A runs immediately → flush TEMP → switch B to MAIN DB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Gap-fill fails after 3 retries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Skip chunk, flag for next cycle, continue other DBs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During controller write time (:XX:00)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Stagger requests to :XX:30 (30s offset)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App crash during A execution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rPr sz="1000" b="0">
                          <a:solidFill>
                            <a:srgbClr val="333333"/>
                          </a:solidFill>
                        </a:rPr>
                        <a:t>TEMP DB persisted on disk → resume on next start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9B0B114D-DB0C-1347-37A8-C0D7716D367F}"/>
              </a:ext>
            </a:extLst>
          </p:cNvPr>
          <p:cNvSpPr txBox="1"/>
          <p:nvPr/>
        </p:nvSpPr>
        <p:spPr>
          <a:xfrm>
            <a:off x="1097280" y="5206117"/>
            <a:ext cx="10515600" cy="27432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l">
              <a:defRPr sz="1600" b="1">
                <a:solidFill>
                  <a:srgbClr val="1A73E8"/>
                </a:solidFill>
                <a:latin typeface="Calibri"/>
              </a:defRPr>
            </a:pPr>
            <a:r>
              <a:rPr sz="1400" b="1">
                <a:solidFill>
                  <a:srgbClr val="1A73E8"/>
                </a:solidFill>
              </a:rPr>
              <a:t>In Summary — Sequential A→B with Temp DB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C8BAA67A-05E9-326F-3C49-B783B3DF70D3}"/>
              </a:ext>
            </a:extLst>
          </p:cNvPr>
          <p:cNvSpPr txBox="1"/>
          <p:nvPr/>
        </p:nvSpPr>
        <p:spPr>
          <a:xfrm>
            <a:off x="1097280" y="5526157"/>
            <a:ext cx="10515600" cy="91440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l">
              <a:spcAft>
                <a:spcPts val="400"/>
              </a:spcAft>
              <a:defRPr sz="1200" b="1">
                <a:solidFill>
                  <a:srgbClr val="1E884E"/>
                </a:solidFill>
                <a:latin typeface="Calibri"/>
              </a:defRPr>
            </a:pPr>
            <a:r>
              <a:rPr sz="1200" b="1">
                <a:solidFill>
                  <a:srgbClr val="C62828"/>
                </a:solidFill>
              </a:rPr>
              <a:t>A and B write to DIFFERENT databases until A completes — strict chronological order.</a:t>
            </a:r>
          </a:p>
          <a:p>
            <a:pPr algn="l"/>
            <a:r>
              <a:rPr sz="1200" b="1">
                <a:solidFill>
                  <a:srgbClr val="0D9638"/>
                </a:solidFill>
              </a:rPr>
              <a:t>Smart reconnect: if gap &lt; interval, B writes to MAIN DB directly (no temp needed).</a:t>
            </a:r>
          </a:p>
          <a:p>
            <a:pPr algn="l"/>
            <a:r>
              <a:rPr sz="1200" b="1">
                <a:solidFill>
                  <a:srgbClr val="1A73E8"/>
                </a:solidFill>
              </a:rPr>
              <a:t>Off-peak default (midnight) with manual 'Run Backup Now' trigger.</a:t>
            </a:r>
          </a:p>
          <a:p>
            <a:pPr algn="l"/>
            <a:r>
              <a:rPr sz="1200" b="1">
                <a:solidFill>
                  <a:srgbClr val="E65C00"/>
                </a:solidFill>
              </a:rPr>
              <a:t>Staggered timing: all requests at :XX:30, never at :XX:00. Avoids controller conflicts.</a:t>
            </a:r>
          </a:p>
          <a:p>
            <a:pPr algn="l"/>
            <a:r>
              <a:rPr sz="1200" b="1">
                <a:solidFill>
                  <a:srgbClr val="333333"/>
                </a:solidFill>
              </a:rPr>
              <a:t>Temp DB = separate SQLite file (crash-safe, persisted on disk).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79438-93CB-9666-FFB6-9E27FB1101A6}"/>
              </a:ext>
            </a:extLst>
          </p:cNvPr>
          <p:cNvSpPr txBox="1"/>
          <p:nvPr/>
        </p:nvSpPr>
        <p:spPr>
          <a:xfrm>
            <a:off x="9332843" y="443858"/>
            <a:ext cx="2392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100" b="1">
                <a:solidFill>
                  <a:srgbClr val="E65C00"/>
                </a:solidFill>
              </a:rPr>
              <a:t>A: Regular Backup (pull)</a:t>
            </a:r>
          </a:p>
          <a:p>
            <a:pPr algn="l"/>
            <a:r>
              <a:rPr sz="1100" b="1">
                <a:solidFill>
                  <a:srgbClr val="0D9638"/>
                </a:solidFill>
              </a:rPr>
              <a:t>B: Real-time Backup (push)</a:t>
            </a:r>
          </a:p>
        </p:txBody>
      </p:sp>
    </p:spTree>
    <p:extLst>
      <p:ext uri="{BB962C8B-B14F-4D97-AF65-F5344CB8AC3E}">
        <p14:creationId xmlns:p14="http://schemas.microsoft.com/office/powerpoint/2010/main" val="92340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50C6-32AB-BB46-EE7C-AD67BED2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31" y="18256"/>
            <a:ext cx="10515600" cy="83651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Regular Backup – Chunked Request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9B5D5FF-9077-2C5C-A98F-7C4D470390ED}"/>
              </a:ext>
            </a:extLst>
          </p:cNvPr>
          <p:cNvSpPr/>
          <p:nvPr/>
        </p:nvSpPr>
        <p:spPr>
          <a:xfrm>
            <a:off x="568518" y="1767177"/>
            <a:ext cx="3200400" cy="914400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8D4346-99CE-6E0A-D2A8-A411819C621B}"/>
              </a:ext>
            </a:extLst>
          </p:cNvPr>
          <p:cNvSpPr txBox="1"/>
          <p:nvPr/>
        </p:nvSpPr>
        <p:spPr>
          <a:xfrm>
            <a:off x="751398" y="1707543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rPr dirty="0"/>
              <a:t>Constraints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C025A-8895-48FB-ED64-A3BA2A01245B}"/>
              </a:ext>
            </a:extLst>
          </p:cNvPr>
          <p:cNvSpPr txBox="1"/>
          <p:nvPr/>
        </p:nvSpPr>
        <p:spPr>
          <a:xfrm>
            <a:off x="751398" y="2087217"/>
            <a:ext cx="2834640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02020"/>
                </a:solidFill>
                <a:latin typeface="Calibri"/>
              </a:defRPr>
            </a:pPr>
            <a:r>
              <a:rPr dirty="0"/>
              <a:t>Max request period: 7 days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202020"/>
                </a:solidFill>
                <a:latin typeface="Calibri"/>
              </a:defRPr>
            </a:pPr>
            <a:r>
              <a:rPr dirty="0"/>
              <a:t>Max data points per request: 256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EB5738-CF85-BF23-902C-8A1032EC325B}"/>
              </a:ext>
            </a:extLst>
          </p:cNvPr>
          <p:cNvSpPr/>
          <p:nvPr/>
        </p:nvSpPr>
        <p:spPr>
          <a:xfrm>
            <a:off x="4043238" y="1767177"/>
            <a:ext cx="3657600" cy="9144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A6638-87A3-75FE-BABC-94959F7B3B1B}"/>
              </a:ext>
            </a:extLst>
          </p:cNvPr>
          <p:cNvSpPr txBox="1"/>
          <p:nvPr/>
        </p:nvSpPr>
        <p:spPr>
          <a:xfrm>
            <a:off x="4226118" y="1812897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C00"/>
                </a:solidFill>
                <a:latin typeface="Calibri"/>
              </a:defRPr>
            </a:pPr>
            <a:r>
              <a:t>Point Batching Required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EF15F1-0878-934C-64A5-C5C8543E947C}"/>
              </a:ext>
            </a:extLst>
          </p:cNvPr>
          <p:cNvSpPr txBox="1"/>
          <p:nvPr/>
        </p:nvSpPr>
        <p:spPr>
          <a:xfrm>
            <a:off x="4226118" y="2087217"/>
            <a:ext cx="329184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02020"/>
                </a:solidFill>
                <a:latin typeface="Calibri"/>
              </a:defRPr>
            </a:pPr>
            <a:r>
              <a:rPr dirty="0"/>
              <a:t>Optime: 537 points → 3 batches of 256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02020"/>
                </a:solidFill>
                <a:latin typeface="Calibri"/>
              </a:defRPr>
            </a:pPr>
            <a:r>
              <a:rPr dirty="0"/>
              <a:t>Trend: 239 points → 1 batch (fits in 256)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21F6A9-1E22-3A96-F3D1-A10FBD96F127}"/>
              </a:ext>
            </a:extLst>
          </p:cNvPr>
          <p:cNvSpPr/>
          <p:nvPr/>
        </p:nvSpPr>
        <p:spPr>
          <a:xfrm>
            <a:off x="8028829" y="1798983"/>
            <a:ext cx="3566160" cy="914400"/>
          </a:xfrm>
          <a:prstGeom prst="round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B92B3B-EE49-BE62-5DF4-51153B888AE4}"/>
              </a:ext>
            </a:extLst>
          </p:cNvPr>
          <p:cNvSpPr txBox="1"/>
          <p:nvPr/>
        </p:nvSpPr>
        <p:spPr>
          <a:xfrm>
            <a:off x="8211709" y="1844703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84E"/>
                </a:solidFill>
                <a:latin typeface="Calibri"/>
              </a:defRPr>
            </a:pPr>
            <a:r>
              <a:t>Processing Order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19BFE-1FA2-3E06-7311-9C5AF88FEDB1}"/>
              </a:ext>
            </a:extLst>
          </p:cNvPr>
          <p:cNvSpPr txBox="1"/>
          <p:nvPr/>
        </p:nvSpPr>
        <p:spPr>
          <a:xfrm>
            <a:off x="8211709" y="2119023"/>
            <a:ext cx="32004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02020"/>
                </a:solidFill>
                <a:latin typeface="Calibri"/>
              </a:defRPr>
            </a:pPr>
            <a:r>
              <a:t>1.History  2.Meter  3.PPD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02020"/>
                </a:solidFill>
                <a:latin typeface="Calibri"/>
              </a:defRPr>
            </a:pPr>
            <a:r>
              <a:t>4.Optime  5.Trend  (smallest first)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AB5E2DF-7488-F56A-D745-FE80AD908FF8}"/>
              </a:ext>
            </a:extLst>
          </p:cNvPr>
          <p:cNvSpPr/>
          <p:nvPr/>
        </p:nvSpPr>
        <p:spPr>
          <a:xfrm>
            <a:off x="3711271" y="3625795"/>
            <a:ext cx="4297680" cy="1353710"/>
          </a:xfrm>
          <a:prstGeom prst="roundRect">
            <a:avLst/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206E7-6CED-A366-6BF1-912D749841CF}"/>
              </a:ext>
            </a:extLst>
          </p:cNvPr>
          <p:cNvSpPr txBox="1"/>
          <p:nvPr/>
        </p:nvSpPr>
        <p:spPr>
          <a:xfrm>
            <a:off x="3894150" y="3671515"/>
            <a:ext cx="393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C00"/>
                </a:solidFill>
                <a:latin typeface="Calibri"/>
              </a:defRPr>
            </a:pPr>
            <a:r>
              <a:rPr sz="1400" b="1">
                <a:solidFill>
                  <a:srgbClr val="333333"/>
                </a:solidFill>
              </a:rPr>
              <a:t>Staggered Timing + Off-Peak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8000F2-34FB-4219-4120-55B4F6AD57EE}"/>
              </a:ext>
            </a:extLst>
          </p:cNvPr>
          <p:cNvSpPr txBox="1"/>
          <p:nvPr/>
        </p:nvSpPr>
        <p:spPr>
          <a:xfrm>
            <a:off x="3894150" y="3945835"/>
            <a:ext cx="393192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02020"/>
                </a:solidFill>
                <a:latin typeface="Calibri"/>
              </a:defRPr>
            </a:pPr>
            <a:r>
              <a:rPr sz="1100" b="1" dirty="0">
                <a:solidFill>
                  <a:srgbClr val="E65C00"/>
                </a:solidFill>
              </a:rPr>
              <a:t>All requests offset 30-40s past interval marks</a:t>
            </a:r>
          </a:p>
          <a:p>
            <a:pPr algn="l"/>
            <a:r>
              <a:rPr sz="1100" b="0" dirty="0">
                <a:solidFill>
                  <a:srgbClr val="333333"/>
                </a:solidFill>
              </a:rPr>
              <a:t>Trend: :00:30, :05:30, :10:30 ...</a:t>
            </a:r>
          </a:p>
          <a:p>
            <a:pPr algn="l"/>
            <a:r>
              <a:rPr sz="1100" b="0" dirty="0">
                <a:solidFill>
                  <a:srgbClr val="333333"/>
                </a:solidFill>
              </a:rPr>
              <a:t>PPD/Optime/Meter: :00:30, :15:30 ...</a:t>
            </a:r>
          </a:p>
          <a:p>
            <a:pPr algn="l"/>
            <a:r>
              <a:rPr sz="1100" b="1" dirty="0">
                <a:solidFill>
                  <a:srgbClr val="1A73E8"/>
                </a:solidFill>
              </a:rPr>
              <a:t>Off-peak: default midnight (</a:t>
            </a:r>
            <a:r>
              <a:rPr lang="en-US" sz="1100" b="1" dirty="0">
                <a:solidFill>
                  <a:srgbClr val="1A73E8"/>
                </a:solidFill>
              </a:rPr>
              <a:t>03:00</a:t>
            </a:r>
            <a:r>
              <a:rPr sz="1100" b="1" dirty="0">
                <a:solidFill>
                  <a:srgbClr val="1A73E8"/>
                </a:solidFill>
              </a:rPr>
              <a:t>)</a:t>
            </a:r>
          </a:p>
          <a:p>
            <a:pPr algn="l"/>
            <a:r>
              <a:rPr sz="1100" b="1" dirty="0">
                <a:solidFill>
                  <a:srgbClr val="0D9638"/>
                </a:solidFill>
              </a:rPr>
              <a:t>Manual trigger: 'Run Backup Now' button</a:t>
            </a:r>
          </a:p>
        </p:txBody>
      </p:sp>
    </p:spTree>
    <p:extLst>
      <p:ext uri="{BB962C8B-B14F-4D97-AF65-F5344CB8AC3E}">
        <p14:creationId xmlns:p14="http://schemas.microsoft.com/office/powerpoint/2010/main" val="2110912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199" y="365125"/>
            <a:ext cx="10079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rPr dirty="0"/>
              <a:t>Edge Cases &amp; Handling (1/2)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321354"/>
              </p:ext>
            </p:extLst>
          </p:nvPr>
        </p:nvGraphicFramePr>
        <p:xfrm>
          <a:off x="838200" y="1100000"/>
          <a:ext cx="10784595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1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14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Edge Case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Handling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4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App crash while B writes to TEMP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Partial write / unflushed TEMP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SQLite WAL ensures atomic writes. On restart: detect TEMP file → resume B to TEMP, schedule A.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4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EC2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App crash during A (gap-fill)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Gap partially filled in MAIN DB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Track lastLocal per chunk. On restart: resume A from checkpoint. B stays on TEMP. Partial A never triggers flush.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4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App crash during TEMP→MAIN flush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Duplicate or missing records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Wrap flush in single transaction (BEGIN→INSERT→COMMIT). Crash before COMMIT → nothing inserted → safe retry.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4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EC4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App crash after flush, before cleanup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App thinks flush hasn't happened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Use flush_status flag (pending/in_progress/completed). On restart: if completed → delete TEMP, switch B to MAIN.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42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Controller offline during A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 cannot complete, TEMP keeps growing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Retry chunk 3x → skip &amp; flag for next cycle. B stays on TEMP. TEMP growth is bounded (small real-time data).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4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EC6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App closed before off-peak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TEMP has full day of unflushed data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TEMP persists on disk. Next launch picks it up. Next off-peak: A fills gap → flush → resume. No data loss.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358000"/>
            <a:ext cx="10878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rPr dirty="0"/>
              <a:t>Edge Cases &amp; Handling (2/2)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100000"/>
          <a:ext cx="10515595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3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Edge Case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Handling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EC7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Multiple connect/disconnect cycles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Multiple gaps, complex state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Append to same TEMP file. Track gap_ranges array. A fills ALL gaps at off-peak → flush entire TEMP.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EC8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TEMP DB corrupted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Real-time data in TEMP lost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Discard TEMP. Extend gap to [lastLocal→now]. Re-pull from controller at next off-peak. No permanent loss.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EC9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MAIN DB corrupted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Serious — all local data at risk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Periodic PRAGMA integrity_check. Recovery: FTP full backup + incremental A. Keep daily DB snapshots.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EC10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Very long gap (weeks offline)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A takes hours, overlaps into peak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Time fence: pause A at 6am, resume next off-peak. B stays on TEMP throughout. Chunked + staggered.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EC11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Smart reconnect misjudgment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Missed records not in TEMP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Use conservative margin (gap &lt; interval - 30s). Missed data caught by next A cycle from controller.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358000"/>
            <a:ext cx="10878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rPr dirty="0"/>
              <a:t>State Persistence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89273"/>
              </p:ext>
            </p:extLst>
          </p:nvPr>
        </p:nvGraphicFramePr>
        <p:xfrm>
          <a:off x="838200" y="1639330"/>
          <a:ext cx="10515596" cy="4860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0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38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Purpose</a:t>
                      </a:r>
                    </a:p>
                  </a:txBody>
                  <a:tcPr marL="45720" marR="45720" marT="18288" marB="18288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38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lastLocal (per DB type)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Last timestamp in MAIN DB. Updated after each A chunk and after flush.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38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T_connect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Timestamp when app last connected. Defines gap range.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38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backup_state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Enum: idle / realtime_temp / realtime_main. Tracks where B writes.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38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flush_status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Enum: pending / in_progress / completed. Tracks flush progress.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38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gap_ranges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JSON array of [start, end] pairs. Tracks unfilled gaps for A.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3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t>temp_db_path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Path to current TEMP DB file (if exists).</a:t>
                      </a:r>
                    </a:p>
                  </a:txBody>
                  <a:tcPr marL="45720" marR="45720" marT="18288" marB="18288"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2FA2961-F493-A7F7-C120-FFA60C4154FF}"/>
              </a:ext>
            </a:extLst>
          </p:cNvPr>
          <p:cNvSpPr txBox="1"/>
          <p:nvPr/>
        </p:nvSpPr>
        <p:spPr>
          <a:xfrm>
            <a:off x="838200" y="112177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dirty="0"/>
              <a:t>These fields are stored in </a:t>
            </a:r>
            <a:r>
              <a:rPr lang="en-US" dirty="0" err="1"/>
              <a:t>backup_metadata.json</a:t>
            </a:r>
            <a:r>
              <a:rPr lang="en-US" dirty="0"/>
              <a:t> and must survive app crashes.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e2dbff-d50b-455f-9126-8c739bfa4d72">
      <Terms xmlns="http://schemas.microsoft.com/office/infopath/2007/PartnerControls"/>
    </lcf76f155ced4ddcb4097134ff3c332f>
    <TaxCatchAll xmlns="dffcc4a2-be35-4275-a814-1eb1d6279ab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8DFBB6E47DDB40821BC9F718E39974" ma:contentTypeVersion="15" ma:contentTypeDescription="Create a new document." ma:contentTypeScope="" ma:versionID="1d1077eabe4d2e0ec3bf3bcd9b1acc13">
  <xsd:schema xmlns:xsd="http://www.w3.org/2001/XMLSchema" xmlns:xs="http://www.w3.org/2001/XMLSchema" xmlns:p="http://schemas.microsoft.com/office/2006/metadata/properties" xmlns:ns2="7be2dbff-d50b-455f-9126-8c739bfa4d72" xmlns:ns3="dffcc4a2-be35-4275-a814-1eb1d6279ab1" targetNamespace="http://schemas.microsoft.com/office/2006/metadata/properties" ma:root="true" ma:fieldsID="f8409dac7c5838312ebf45b89701e920" ns2:_="" ns3:_="">
    <xsd:import namespace="7be2dbff-d50b-455f-9126-8c739bfa4d72"/>
    <xsd:import namespace="dffcc4a2-be35-4275-a814-1eb1d6279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2dbff-d50b-455f-9126-8c739bfa4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088d5d17-e920-49ae-b75c-05d94d8db8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cc4a2-be35-4275-a814-1eb1d6279ab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ed8ebd2-bb36-475c-8bef-11f2f8df58fa}" ma:internalName="TaxCatchAll" ma:readOnly="false" ma:showField="CatchAllData" ma:web="dffcc4a2-be35-4275-a814-1eb1d6279a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00A5E7-0D79-4E8B-BD64-AC4CBC66B923}">
  <ds:schemaRefs>
    <ds:schemaRef ds:uri="http://schemas.microsoft.com/office/2006/metadata/properties"/>
    <ds:schemaRef ds:uri="http://schemas.microsoft.com/office/infopath/2007/PartnerControls"/>
    <ds:schemaRef ds:uri="7be2dbff-d50b-455f-9126-8c739bfa4d72"/>
    <ds:schemaRef ds:uri="dffcc4a2-be35-4275-a814-1eb1d6279ab1"/>
  </ds:schemaRefs>
</ds:datastoreItem>
</file>

<file path=customXml/itemProps2.xml><?xml version="1.0" encoding="utf-8"?>
<ds:datastoreItem xmlns:ds="http://schemas.openxmlformats.org/officeDocument/2006/customXml" ds:itemID="{8F396883-AD8F-4CE2-AB4B-E5FD89F6B9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200E23-FE8C-4EB2-9A1F-E0CA78EEA2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e2dbff-d50b-455f-9126-8c739bfa4d72"/>
    <ds:schemaRef ds:uri="dffcc4a2-be35-4275-a814-1eb1d6279a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3278</Words>
  <Application>Microsoft Office PowerPoint</Application>
  <PresentationFormat>Widescreen</PresentationFormat>
  <Paragraphs>484</Paragraphs>
  <Slides>21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Reiri DB Backup Tool</vt:lpstr>
      <vt:lpstr>What this document covers</vt:lpstr>
      <vt:lpstr>Introduction</vt:lpstr>
      <vt:lpstr>System Overview</vt:lpstr>
      <vt:lpstr>Backup Methods Background</vt:lpstr>
      <vt:lpstr>Backup methods Explained</vt:lpstr>
      <vt:lpstr>Application Lifecycle</vt:lpstr>
      <vt:lpstr>Application Lifecycle (cont.)</vt:lpstr>
      <vt:lpstr>Backup System Design (Core Logic)</vt:lpstr>
      <vt:lpstr>PowerPoint Presentation</vt:lpstr>
      <vt:lpstr>Design 2 – Store all data to DB, sort the DB based on timestamp later (Backup)</vt:lpstr>
      <vt:lpstr>How to make the final DB chronological order for logic 2?</vt:lpstr>
      <vt:lpstr>Initial Setup &amp; Ongoing Backup Phases</vt:lpstr>
      <vt:lpstr>Smart Reconnect + Backup Timing</vt:lpstr>
      <vt:lpstr>PowerPoint Presentation</vt:lpstr>
      <vt:lpstr>PowerPoint Presentation</vt:lpstr>
      <vt:lpstr>Scenario Actions</vt:lpstr>
      <vt:lpstr>Regular Backup – Chunked Request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 JENG YANG</dc:creator>
  <cp:lastModifiedBy>Kong Jeng Yang</cp:lastModifiedBy>
  <cp:revision>20</cp:revision>
  <dcterms:created xsi:type="dcterms:W3CDTF">2026-03-23T14:55:43Z</dcterms:created>
  <dcterms:modified xsi:type="dcterms:W3CDTF">2026-08-03T03:32:04Z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0x010100628DFBB6E47DDB40821BC9F718E39974</vt:lpwstr>
  </property>
</Properties>
</file>